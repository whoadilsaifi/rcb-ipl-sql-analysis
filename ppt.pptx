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layfair Display"/>
      <p:regular r:id="rId23"/>
      <p:bold r:id="rId24"/>
      <p:italic r:id="rId25"/>
      <p:boldItalic r:id="rId26"/>
    </p:embeddedFont>
    <p:embeddedFont>
      <p:font typeface="Playfair Display SemiBol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fairDisplay-bold.fntdata"/><Relationship Id="rId23" Type="http://schemas.openxmlformats.org/officeDocument/2006/relationships/font" Target="fonts/PlayfairDispl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boldItalic.fntdata"/><Relationship Id="rId25" Type="http://schemas.openxmlformats.org/officeDocument/2006/relationships/font" Target="fonts/PlayfairDisplay-italic.fntdata"/><Relationship Id="rId28" Type="http://schemas.openxmlformats.org/officeDocument/2006/relationships/font" Target="fonts/PlayfairDisplaySemiBold-bold.fntdata"/><Relationship Id="rId27" Type="http://schemas.openxmlformats.org/officeDocument/2006/relationships/font" Target="fonts/PlayfairDisplay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fairDisplaySemiBold-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PlayfairDisplaySemi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fa0cc69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fa0cc69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2a7b2904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2a7b2904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2a7b2904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2a7b2904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2a7b2904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2a7b2904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2a7b2904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2a7b2904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2a7b2904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2a7b2904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2a7b2904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2a7b2904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2a7b2904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2a7b2904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2a7b2904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2a7b2904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2a7b2904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2a7b2904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2a7b2904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2a7b2904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2a7b2904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2a7b2904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2a7b29041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2a7b29041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2a7b29041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2a7b2904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2a7b2904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2a7b29041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2a7b29041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2a7b29041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4912325" y="136350"/>
            <a:ext cx="4136350" cy="4874400"/>
          </a:xfrm>
          <a:prstGeom prst="rect">
            <a:avLst/>
          </a:prstGeom>
          <a:noFill/>
          <a:ln>
            <a:noFill/>
          </a:ln>
        </p:spPr>
      </p:pic>
      <p:sp>
        <p:nvSpPr>
          <p:cNvPr id="55" name="Google Shape;55;p13"/>
          <p:cNvSpPr txBox="1"/>
          <p:nvPr/>
        </p:nvSpPr>
        <p:spPr>
          <a:xfrm>
            <a:off x="222450" y="374675"/>
            <a:ext cx="4436100" cy="3813300"/>
          </a:xfrm>
          <a:prstGeom prst="rect">
            <a:avLst/>
          </a:prstGeom>
          <a:noFill/>
          <a:ln>
            <a:noFill/>
          </a:ln>
        </p:spPr>
        <p:txBody>
          <a:bodyPr anchorCtr="0" anchor="t" bIns="91425" lIns="91425" spcFirstLastPara="1" rIns="91425" wrap="square" tIns="91425">
            <a:noAutofit/>
          </a:bodyPr>
          <a:lstStyle/>
          <a:p>
            <a:pPr indent="0" lvl="0" marL="0" rtl="0" algn="l">
              <a:lnSpc>
                <a:spcPct val="84000"/>
              </a:lnSpc>
              <a:spcBef>
                <a:spcPts val="0"/>
              </a:spcBef>
              <a:spcAft>
                <a:spcPts val="0"/>
              </a:spcAft>
              <a:buClr>
                <a:schemeClr val="dk1"/>
              </a:buClr>
              <a:buFont typeface="Arial"/>
              <a:buNone/>
            </a:pPr>
            <a:r>
              <a:rPr b="1" lang="en" sz="2600" u="sng">
                <a:solidFill>
                  <a:schemeClr val="dk1"/>
                </a:solidFill>
                <a:latin typeface="Calibri"/>
                <a:ea typeface="Calibri"/>
                <a:cs typeface="Calibri"/>
                <a:sym typeface="Calibri"/>
              </a:rPr>
              <a:t>IPL Data Analysis &amp; Strategic Insights for RCB</a:t>
            </a:r>
            <a:endParaRPr sz="2600" u="sng">
              <a:solidFill>
                <a:schemeClr val="dk1"/>
              </a:solidFill>
              <a:latin typeface="Calibri"/>
              <a:ea typeface="Calibri"/>
              <a:cs typeface="Calibri"/>
              <a:sym typeface="Calibri"/>
            </a:endParaRPr>
          </a:p>
          <a:p>
            <a:pPr indent="0" lvl="0" marL="0" rtl="0" algn="l">
              <a:lnSpc>
                <a:spcPct val="84000"/>
              </a:lnSpc>
              <a:spcBef>
                <a:spcPts val="0"/>
              </a:spcBef>
              <a:spcAft>
                <a:spcPts val="0"/>
              </a:spcAft>
              <a:buClr>
                <a:schemeClr val="dk1"/>
              </a:buClr>
              <a:buFont typeface="Arial"/>
              <a:buNone/>
            </a:pPr>
            <a:r>
              <a:t/>
            </a:r>
            <a:endParaRPr sz="1925">
              <a:solidFill>
                <a:srgbClr val="4B6981"/>
              </a:solidFill>
              <a:latin typeface="Playfair Display"/>
              <a:ea typeface="Playfair Display"/>
              <a:cs typeface="Playfair Display"/>
              <a:sym typeface="Playfair Display"/>
            </a:endParaRPr>
          </a:p>
          <a:p>
            <a:pPr indent="0" lvl="0" marL="0" rtl="0" algn="l">
              <a:lnSpc>
                <a:spcPct val="84000"/>
              </a:lnSpc>
              <a:spcBef>
                <a:spcPts val="0"/>
              </a:spcBef>
              <a:spcAft>
                <a:spcPts val="0"/>
              </a:spcAft>
              <a:buClr>
                <a:schemeClr val="dk1"/>
              </a:buClr>
              <a:buFont typeface="Arial"/>
              <a:buNone/>
            </a:pPr>
            <a:r>
              <a:rPr b="1" lang="en" sz="1700">
                <a:solidFill>
                  <a:schemeClr val="dk1"/>
                </a:solidFill>
                <a:latin typeface="Calibri"/>
                <a:ea typeface="Calibri"/>
                <a:cs typeface="Calibri"/>
                <a:sym typeface="Calibri"/>
              </a:rPr>
              <a:t>Performance Analysis, Player Evaluation,</a:t>
            </a:r>
            <a:endParaRPr b="1" sz="1700">
              <a:solidFill>
                <a:schemeClr val="dk1"/>
              </a:solidFill>
              <a:latin typeface="Calibri"/>
              <a:ea typeface="Calibri"/>
              <a:cs typeface="Calibri"/>
              <a:sym typeface="Calibri"/>
            </a:endParaRPr>
          </a:p>
          <a:p>
            <a:pPr indent="0" lvl="0" marL="0" rtl="0" algn="l">
              <a:lnSpc>
                <a:spcPct val="84000"/>
              </a:lnSpc>
              <a:spcBef>
                <a:spcPts val="0"/>
              </a:spcBef>
              <a:spcAft>
                <a:spcPts val="0"/>
              </a:spcAft>
              <a:buClr>
                <a:schemeClr val="dk1"/>
              </a:buClr>
              <a:buFont typeface="Arial"/>
              <a:buNone/>
            </a:pPr>
            <a:r>
              <a:rPr b="1" lang="en" sz="1700">
                <a:solidFill>
                  <a:schemeClr val="dk1"/>
                </a:solidFill>
                <a:latin typeface="Calibri"/>
                <a:ea typeface="Calibri"/>
                <a:cs typeface="Calibri"/>
                <a:sym typeface="Calibri"/>
              </a:rPr>
              <a:t>and Team Strategy Recommendations</a:t>
            </a:r>
            <a:endParaRPr b="1" sz="1700">
              <a:solidFill>
                <a:schemeClr val="dk1"/>
              </a:solidFill>
              <a:latin typeface="Calibri"/>
              <a:ea typeface="Calibri"/>
              <a:cs typeface="Calibri"/>
              <a:sym typeface="Calibri"/>
            </a:endParaRPr>
          </a:p>
          <a:p>
            <a:pPr indent="0" lvl="0" marL="0" rtl="0" algn="l">
              <a:lnSpc>
                <a:spcPct val="84000"/>
              </a:lnSpc>
              <a:spcBef>
                <a:spcPts val="0"/>
              </a:spcBef>
              <a:spcAft>
                <a:spcPts val="0"/>
              </a:spcAft>
              <a:buClr>
                <a:schemeClr val="dk1"/>
              </a:buClr>
              <a:buFont typeface="Arial"/>
              <a:buNone/>
            </a:pPr>
            <a:r>
              <a:t/>
            </a:r>
            <a:endParaRPr b="1" sz="1700">
              <a:solidFill>
                <a:schemeClr val="dk1"/>
              </a:solidFill>
              <a:latin typeface="Calibri"/>
              <a:ea typeface="Calibri"/>
              <a:cs typeface="Calibri"/>
              <a:sym typeface="Calibri"/>
            </a:endParaRPr>
          </a:p>
          <a:p>
            <a:pPr indent="0" lvl="0" marL="0" rtl="0" algn="l">
              <a:lnSpc>
                <a:spcPct val="84000"/>
              </a:lnSpc>
              <a:spcBef>
                <a:spcPts val="0"/>
              </a:spcBef>
              <a:spcAft>
                <a:spcPts val="0"/>
              </a:spcAft>
              <a:buClr>
                <a:schemeClr val="dk1"/>
              </a:buClr>
              <a:buFont typeface="Arial"/>
              <a:buNone/>
            </a:pPr>
            <a:r>
              <a:t/>
            </a:r>
            <a:endParaRPr b="1" sz="1700">
              <a:solidFill>
                <a:schemeClr val="dk1"/>
              </a:solidFill>
              <a:latin typeface="Calibri"/>
              <a:ea typeface="Calibri"/>
              <a:cs typeface="Calibri"/>
              <a:sym typeface="Calibri"/>
            </a:endParaRPr>
          </a:p>
          <a:p>
            <a:pPr indent="0" lvl="0" marL="0" rtl="0" algn="l">
              <a:lnSpc>
                <a:spcPct val="84000"/>
              </a:lnSpc>
              <a:spcBef>
                <a:spcPts val="0"/>
              </a:spcBef>
              <a:spcAft>
                <a:spcPts val="0"/>
              </a:spcAft>
              <a:buClr>
                <a:schemeClr val="dk1"/>
              </a:buClr>
              <a:buFont typeface="Arial"/>
              <a:buNone/>
            </a:pPr>
            <a:r>
              <a:rPr b="1" lang="en" sz="1700">
                <a:solidFill>
                  <a:schemeClr val="dk1"/>
                </a:solidFill>
                <a:latin typeface="Calibri"/>
                <a:ea typeface="Calibri"/>
                <a:cs typeface="Calibri"/>
                <a:sym typeface="Calibri"/>
              </a:rPr>
              <a:t>Tools: </a:t>
            </a:r>
            <a:r>
              <a:rPr lang="en" sz="1700">
                <a:solidFill>
                  <a:schemeClr val="dk1"/>
                </a:solidFill>
                <a:latin typeface="Calibri"/>
                <a:ea typeface="Calibri"/>
                <a:cs typeface="Calibri"/>
                <a:sym typeface="Calibri"/>
              </a:rPr>
              <a:t>MySQL Workbench, Google Sheets</a:t>
            </a:r>
            <a:endParaRPr sz="1700">
              <a:solidFill>
                <a:schemeClr val="dk1"/>
              </a:solidFill>
              <a:latin typeface="Calibri"/>
              <a:ea typeface="Calibri"/>
              <a:cs typeface="Calibri"/>
              <a:sym typeface="Calibri"/>
            </a:endParaRPr>
          </a:p>
          <a:p>
            <a:pPr indent="0" lvl="0" marL="0" rtl="0" algn="l">
              <a:lnSpc>
                <a:spcPct val="84000"/>
              </a:lnSpc>
              <a:spcBef>
                <a:spcPts val="0"/>
              </a:spcBef>
              <a:spcAft>
                <a:spcPts val="0"/>
              </a:spcAft>
              <a:buClr>
                <a:schemeClr val="dk1"/>
              </a:buClr>
              <a:buFont typeface="Arial"/>
              <a:buNone/>
            </a:pPr>
            <a:r>
              <a:t/>
            </a:r>
            <a:endParaRPr b="1" sz="1700">
              <a:solidFill>
                <a:schemeClr val="dk1"/>
              </a:solidFill>
              <a:latin typeface="Calibri"/>
              <a:ea typeface="Calibri"/>
              <a:cs typeface="Calibri"/>
              <a:sym typeface="Calibri"/>
            </a:endParaRPr>
          </a:p>
          <a:p>
            <a:pPr indent="0" lvl="0" marL="0" rtl="0" algn="l">
              <a:lnSpc>
                <a:spcPct val="84000"/>
              </a:lnSpc>
              <a:spcBef>
                <a:spcPts val="0"/>
              </a:spcBef>
              <a:spcAft>
                <a:spcPts val="0"/>
              </a:spcAft>
              <a:buNone/>
            </a:pPr>
            <a:r>
              <a:rPr b="1" lang="en" sz="1700">
                <a:solidFill>
                  <a:schemeClr val="dk1"/>
                </a:solidFill>
                <a:latin typeface="Calibri"/>
                <a:ea typeface="Calibri"/>
                <a:cs typeface="Calibri"/>
                <a:sym typeface="Calibri"/>
              </a:rPr>
              <a:t>Objective:</a:t>
            </a:r>
            <a:r>
              <a:rPr lang="en" sz="1700">
                <a:solidFill>
                  <a:schemeClr val="dk1"/>
                </a:solidFill>
                <a:latin typeface="Calibri"/>
                <a:ea typeface="Calibri"/>
                <a:cs typeface="Calibri"/>
                <a:sym typeface="Calibri"/>
              </a:rPr>
              <a:t> Analyze IPL data to identify performance trends and auction strategies</a:t>
            </a:r>
            <a:endParaRPr sz="1700">
              <a:solidFill>
                <a:schemeClr val="dk1"/>
              </a:solidFill>
              <a:latin typeface="Calibri"/>
              <a:ea typeface="Calibri"/>
              <a:cs typeface="Calibri"/>
              <a:sym typeface="Calibri"/>
            </a:endParaRPr>
          </a:p>
          <a:p>
            <a:pPr indent="0" lvl="0" marL="0" rtl="0" algn="l">
              <a:lnSpc>
                <a:spcPct val="84000"/>
              </a:lnSpc>
              <a:spcBef>
                <a:spcPts val="0"/>
              </a:spcBef>
              <a:spcAft>
                <a:spcPts val="0"/>
              </a:spcAft>
              <a:buNone/>
            </a:pPr>
            <a:r>
              <a:t/>
            </a:r>
            <a:endParaRPr b="1" sz="1700">
              <a:solidFill>
                <a:schemeClr val="dk1"/>
              </a:solidFill>
              <a:latin typeface="Calibri"/>
              <a:ea typeface="Calibri"/>
              <a:cs typeface="Calibri"/>
              <a:sym typeface="Calibri"/>
            </a:endParaRPr>
          </a:p>
          <a:p>
            <a:pPr indent="0" lvl="0" marL="0" rtl="0" algn="l">
              <a:lnSpc>
                <a:spcPct val="84000"/>
              </a:lnSpc>
              <a:spcBef>
                <a:spcPts val="0"/>
              </a:spcBef>
              <a:spcAft>
                <a:spcPts val="0"/>
              </a:spcAft>
              <a:buClr>
                <a:schemeClr val="dk1"/>
              </a:buClr>
              <a:buSzPts val="1100"/>
              <a:buFont typeface="Arial"/>
              <a:buNone/>
            </a:pPr>
            <a:r>
              <a:rPr b="1" lang="en" sz="1700">
                <a:solidFill>
                  <a:schemeClr val="dk1"/>
                </a:solidFill>
                <a:latin typeface="Calibri"/>
                <a:ea typeface="Calibri"/>
                <a:cs typeface="Calibri"/>
                <a:sym typeface="Calibri"/>
              </a:rPr>
              <a:t>Presented By: </a:t>
            </a:r>
            <a:r>
              <a:rPr lang="en" sz="1700">
                <a:solidFill>
                  <a:schemeClr val="dk1"/>
                </a:solidFill>
                <a:latin typeface="Calibri"/>
                <a:ea typeface="Calibri"/>
                <a:cs typeface="Calibri"/>
                <a:sym typeface="Calibri"/>
              </a:rPr>
              <a:t>Adil Saifi</a:t>
            </a:r>
            <a:endParaRPr sz="1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2774975" y="259350"/>
            <a:ext cx="3306000" cy="5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 sz="2600" u="sng">
                <a:solidFill>
                  <a:schemeClr val="dk1"/>
                </a:solidFill>
                <a:latin typeface="Calibri"/>
                <a:ea typeface="Calibri"/>
                <a:cs typeface="Calibri"/>
                <a:sym typeface="Calibri"/>
              </a:rPr>
              <a:t>Business Objective</a:t>
            </a:r>
            <a:endParaRPr sz="2000" u="sng">
              <a:solidFill>
                <a:schemeClr val="dk2"/>
              </a:solidFill>
              <a:latin typeface="Calibri"/>
              <a:ea typeface="Calibri"/>
              <a:cs typeface="Calibri"/>
              <a:sym typeface="Calibri"/>
            </a:endParaRPr>
          </a:p>
        </p:txBody>
      </p:sp>
      <p:sp>
        <p:nvSpPr>
          <p:cNvPr id="61" name="Google Shape;61;p14"/>
          <p:cNvSpPr txBox="1"/>
          <p:nvPr/>
        </p:nvSpPr>
        <p:spPr>
          <a:xfrm>
            <a:off x="514600" y="1020500"/>
            <a:ext cx="8065200" cy="132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b="1" lang="en">
                <a:solidFill>
                  <a:schemeClr val="dk1"/>
                </a:solidFill>
                <a:latin typeface="Calibri"/>
                <a:ea typeface="Calibri"/>
                <a:cs typeface="Calibri"/>
                <a:sym typeface="Calibri"/>
              </a:rPr>
              <a:t>This project analyzes historical IPL data to identify key factors affecting team and player performance. The analysis focuses on Royal Challengers Bangalore (RCB), evaluating performance trends, venue and toss impact, player contributions, and strategic insights to support data-driven decision-making for team selection and future auction planning.</a:t>
            </a:r>
            <a:endParaRPr b="1">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endParaRPr>
          </a:p>
        </p:txBody>
      </p:sp>
      <p:sp>
        <p:nvSpPr>
          <p:cNvPr id="62" name="Google Shape;62;p14"/>
          <p:cNvSpPr/>
          <p:nvPr/>
        </p:nvSpPr>
        <p:spPr>
          <a:xfrm>
            <a:off x="514595" y="2624365"/>
            <a:ext cx="640200" cy="640200"/>
          </a:xfrm>
          <a:prstGeom prst="ellipse">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 name="Google Shape;63;p14"/>
          <p:cNvPicPr preferRelativeResize="0"/>
          <p:nvPr/>
        </p:nvPicPr>
        <p:blipFill rotWithShape="1">
          <a:blip r:embed="rId3">
            <a:alphaModFix/>
          </a:blip>
          <a:srcRect b="0" l="0" r="0" t="0"/>
          <a:stretch/>
        </p:blipFill>
        <p:spPr>
          <a:xfrm>
            <a:off x="668277" y="2778059"/>
            <a:ext cx="332842" cy="332842"/>
          </a:xfrm>
          <a:prstGeom prst="rect">
            <a:avLst/>
          </a:prstGeom>
          <a:noFill/>
          <a:ln>
            <a:noFill/>
          </a:ln>
        </p:spPr>
      </p:pic>
      <p:sp>
        <p:nvSpPr>
          <p:cNvPr id="64" name="Google Shape;64;p14"/>
          <p:cNvSpPr/>
          <p:nvPr/>
        </p:nvSpPr>
        <p:spPr>
          <a:xfrm>
            <a:off x="447474" y="3292563"/>
            <a:ext cx="2153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2626"/>
              </a:buClr>
              <a:buSzPts val="1700"/>
              <a:buFont typeface="Cambria"/>
              <a:buNone/>
            </a:pPr>
            <a:r>
              <a:rPr b="1" i="0" lang="en" sz="1700" u="none" cap="none" strike="noStrike">
                <a:solidFill>
                  <a:srgbClr val="262626"/>
                </a:solidFill>
                <a:latin typeface="Playfair Display"/>
                <a:ea typeface="Playfair Display"/>
                <a:cs typeface="Playfair Display"/>
                <a:sym typeface="Playfair Display"/>
              </a:rPr>
              <a:t>Performance Trends</a:t>
            </a:r>
            <a:endParaRPr i="0" sz="1700" u="none" cap="none" strike="noStrike">
              <a:solidFill>
                <a:srgbClr val="000000"/>
              </a:solidFill>
              <a:latin typeface="Playfair Display"/>
              <a:ea typeface="Playfair Display"/>
              <a:cs typeface="Playfair Display"/>
              <a:sym typeface="Playfair Display"/>
            </a:endParaRPr>
          </a:p>
        </p:txBody>
      </p:sp>
      <p:sp>
        <p:nvSpPr>
          <p:cNvPr id="65" name="Google Shape;65;p14"/>
          <p:cNvSpPr/>
          <p:nvPr/>
        </p:nvSpPr>
        <p:spPr>
          <a:xfrm>
            <a:off x="447475" y="3657525"/>
            <a:ext cx="2396100" cy="60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E"/>
              </a:buClr>
              <a:buSzPts val="1300"/>
              <a:buFont typeface="Calibri"/>
              <a:buNone/>
            </a:pPr>
            <a:r>
              <a:rPr b="1" i="0" lang="en" sz="1300" u="none" cap="none" strike="noStrike">
                <a:solidFill>
                  <a:schemeClr val="dk1"/>
                </a:solidFill>
                <a:latin typeface="Calibri"/>
                <a:ea typeface="Calibri"/>
                <a:cs typeface="Calibri"/>
                <a:sym typeface="Calibri"/>
              </a:rPr>
              <a:t>Season-wise win rates, toss impact, and home-ground advantage</a:t>
            </a:r>
            <a:endParaRPr b="1" i="0" sz="1300" u="none" cap="none" strike="noStrike">
              <a:solidFill>
                <a:schemeClr val="dk1"/>
              </a:solidFill>
              <a:latin typeface="Calibri"/>
              <a:ea typeface="Calibri"/>
              <a:cs typeface="Calibri"/>
              <a:sym typeface="Calibri"/>
            </a:endParaRPr>
          </a:p>
        </p:txBody>
      </p:sp>
      <p:sp>
        <p:nvSpPr>
          <p:cNvPr id="66" name="Google Shape;66;p14"/>
          <p:cNvSpPr/>
          <p:nvPr/>
        </p:nvSpPr>
        <p:spPr>
          <a:xfrm>
            <a:off x="3279175" y="2624365"/>
            <a:ext cx="640200" cy="640200"/>
          </a:xfrm>
          <a:prstGeom prst="ellipse">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 name="Google Shape;67;p14"/>
          <p:cNvPicPr preferRelativeResize="0"/>
          <p:nvPr/>
        </p:nvPicPr>
        <p:blipFill rotWithShape="1">
          <a:blip r:embed="rId4">
            <a:alphaModFix/>
          </a:blip>
          <a:srcRect b="0" l="0" r="0" t="0"/>
          <a:stretch/>
        </p:blipFill>
        <p:spPr>
          <a:xfrm>
            <a:off x="3470369" y="2815009"/>
            <a:ext cx="332842" cy="332842"/>
          </a:xfrm>
          <a:prstGeom prst="rect">
            <a:avLst/>
          </a:prstGeom>
          <a:noFill/>
          <a:ln>
            <a:noFill/>
          </a:ln>
        </p:spPr>
      </p:pic>
      <p:pic>
        <p:nvPicPr>
          <p:cNvPr descr="preencoded.png" id="68" name="Google Shape;68;p14"/>
          <p:cNvPicPr preferRelativeResize="0"/>
          <p:nvPr/>
        </p:nvPicPr>
        <p:blipFill rotWithShape="1">
          <a:blip r:embed="rId4">
            <a:alphaModFix/>
          </a:blip>
          <a:srcRect b="0" l="0" r="0" t="0"/>
          <a:stretch/>
        </p:blipFill>
        <p:spPr>
          <a:xfrm>
            <a:off x="5106619" y="3597859"/>
            <a:ext cx="332842" cy="332842"/>
          </a:xfrm>
          <a:prstGeom prst="rect">
            <a:avLst/>
          </a:prstGeom>
          <a:noFill/>
          <a:ln>
            <a:noFill/>
          </a:ln>
        </p:spPr>
      </p:pic>
      <p:sp>
        <p:nvSpPr>
          <p:cNvPr id="69" name="Google Shape;69;p14"/>
          <p:cNvSpPr/>
          <p:nvPr/>
        </p:nvSpPr>
        <p:spPr>
          <a:xfrm>
            <a:off x="3191025" y="3292563"/>
            <a:ext cx="182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2626"/>
              </a:buClr>
              <a:buSzPts val="1700"/>
              <a:buFont typeface="Cambria"/>
              <a:buNone/>
            </a:pPr>
            <a:r>
              <a:rPr b="1" i="0" lang="en" sz="1700" u="none" cap="none" strike="noStrike">
                <a:solidFill>
                  <a:srgbClr val="262626"/>
                </a:solidFill>
                <a:latin typeface="Playfair Display"/>
                <a:ea typeface="Playfair Display"/>
                <a:cs typeface="Playfair Display"/>
                <a:sym typeface="Playfair Display"/>
              </a:rPr>
              <a:t>Player Evaluation</a:t>
            </a:r>
            <a:endParaRPr i="0" sz="1700" u="none" cap="none" strike="noStrike">
              <a:solidFill>
                <a:srgbClr val="000000"/>
              </a:solidFill>
              <a:latin typeface="Playfair Display"/>
              <a:ea typeface="Playfair Display"/>
              <a:cs typeface="Playfair Display"/>
              <a:sym typeface="Playfair Display"/>
            </a:endParaRPr>
          </a:p>
        </p:txBody>
      </p:sp>
      <p:sp>
        <p:nvSpPr>
          <p:cNvPr id="70" name="Google Shape;70;p14"/>
          <p:cNvSpPr/>
          <p:nvPr/>
        </p:nvSpPr>
        <p:spPr>
          <a:xfrm>
            <a:off x="3160275" y="3618750"/>
            <a:ext cx="2299500" cy="51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E"/>
              </a:buClr>
              <a:buSzPts val="1300"/>
              <a:buFont typeface="Calibri"/>
              <a:buNone/>
            </a:pPr>
            <a:r>
              <a:rPr b="1" i="0" lang="en" sz="1300" u="none" cap="none" strike="noStrike">
                <a:solidFill>
                  <a:schemeClr val="dk1"/>
                </a:solidFill>
                <a:latin typeface="Calibri"/>
                <a:ea typeface="Calibri"/>
                <a:cs typeface="Calibri"/>
                <a:sym typeface="Calibri"/>
              </a:rPr>
              <a:t>Top run-scorers, all-rounders, and players who lift team results</a:t>
            </a:r>
            <a:endParaRPr b="1" i="0" sz="1300" u="none" cap="none" strike="noStrike">
              <a:solidFill>
                <a:schemeClr val="dk1"/>
              </a:solidFill>
              <a:latin typeface="Calibri"/>
              <a:ea typeface="Calibri"/>
              <a:cs typeface="Calibri"/>
              <a:sym typeface="Calibri"/>
            </a:endParaRPr>
          </a:p>
        </p:txBody>
      </p:sp>
      <p:sp>
        <p:nvSpPr>
          <p:cNvPr id="71" name="Google Shape;71;p14"/>
          <p:cNvSpPr/>
          <p:nvPr/>
        </p:nvSpPr>
        <p:spPr>
          <a:xfrm>
            <a:off x="6118780" y="2624365"/>
            <a:ext cx="640200" cy="640200"/>
          </a:xfrm>
          <a:prstGeom prst="ellipse">
            <a:avLst/>
          </a:prstGeom>
          <a:solidFill>
            <a:srgbClr val="C81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14"/>
          <p:cNvPicPr preferRelativeResize="0"/>
          <p:nvPr/>
        </p:nvPicPr>
        <p:blipFill rotWithShape="1">
          <a:blip r:embed="rId5">
            <a:alphaModFix/>
          </a:blip>
          <a:srcRect b="0" l="0" r="0" t="0"/>
          <a:stretch/>
        </p:blipFill>
        <p:spPr>
          <a:xfrm>
            <a:off x="6272449" y="2778059"/>
            <a:ext cx="332842" cy="332842"/>
          </a:xfrm>
          <a:prstGeom prst="rect">
            <a:avLst/>
          </a:prstGeom>
          <a:noFill/>
          <a:ln>
            <a:noFill/>
          </a:ln>
        </p:spPr>
      </p:pic>
      <p:sp>
        <p:nvSpPr>
          <p:cNvPr id="73" name="Google Shape;73;p14"/>
          <p:cNvSpPr/>
          <p:nvPr/>
        </p:nvSpPr>
        <p:spPr>
          <a:xfrm>
            <a:off x="6019475" y="3292575"/>
            <a:ext cx="1535100" cy="33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2626"/>
              </a:buClr>
              <a:buSzPts val="1700"/>
              <a:buFont typeface="Cambria"/>
              <a:buNone/>
            </a:pPr>
            <a:r>
              <a:rPr b="1" i="0" lang="en" sz="1700" u="none" cap="none" strike="noStrike">
                <a:solidFill>
                  <a:srgbClr val="262626"/>
                </a:solidFill>
                <a:latin typeface="Playfair Display"/>
                <a:ea typeface="Playfair Display"/>
                <a:cs typeface="Playfair Display"/>
                <a:sym typeface="Playfair Display"/>
              </a:rPr>
              <a:t>Team Strategy</a:t>
            </a:r>
            <a:endParaRPr i="0" sz="1700" u="none" cap="none" strike="noStrike">
              <a:solidFill>
                <a:srgbClr val="000000"/>
              </a:solidFill>
              <a:latin typeface="Playfair Display"/>
              <a:ea typeface="Playfair Display"/>
              <a:cs typeface="Playfair Display"/>
              <a:sym typeface="Playfair Display"/>
            </a:endParaRPr>
          </a:p>
        </p:txBody>
      </p:sp>
      <p:sp>
        <p:nvSpPr>
          <p:cNvPr id="74" name="Google Shape;74;p14"/>
          <p:cNvSpPr/>
          <p:nvPr/>
        </p:nvSpPr>
        <p:spPr>
          <a:xfrm>
            <a:off x="6019475" y="3544850"/>
            <a:ext cx="2865300" cy="60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E"/>
              </a:buClr>
              <a:buSzPts val="1300"/>
              <a:buFont typeface="Calibri"/>
              <a:buNone/>
            </a:pPr>
            <a:r>
              <a:rPr b="1" i="0" lang="en" sz="1300" u="none" cap="none" strike="noStrike">
                <a:solidFill>
                  <a:schemeClr val="dk1"/>
                </a:solidFill>
                <a:latin typeface="Calibri"/>
                <a:ea typeface="Calibri"/>
                <a:cs typeface="Calibri"/>
                <a:sym typeface="Calibri"/>
              </a:rPr>
              <a:t>Bowling weaknesses and auction priorities backed by real query results</a:t>
            </a:r>
            <a:endParaRPr b="1"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5"/>
          <p:cNvPicPr preferRelativeResize="0"/>
          <p:nvPr/>
        </p:nvPicPr>
        <p:blipFill rotWithShape="1">
          <a:blip r:embed="rId3">
            <a:alphaModFix/>
          </a:blip>
          <a:srcRect b="0" l="0" r="0" t="0"/>
          <a:stretch/>
        </p:blipFill>
        <p:spPr>
          <a:xfrm>
            <a:off x="82800" y="272675"/>
            <a:ext cx="8978400" cy="4699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6"/>
          <p:cNvPicPr preferRelativeResize="0"/>
          <p:nvPr/>
        </p:nvPicPr>
        <p:blipFill rotWithShape="1">
          <a:blip r:embed="rId3">
            <a:alphaModFix/>
          </a:blip>
          <a:srcRect b="0" l="0" r="0" t="0"/>
          <a:stretch/>
        </p:blipFill>
        <p:spPr>
          <a:xfrm>
            <a:off x="93600" y="1058400"/>
            <a:ext cx="8971200" cy="4003200"/>
          </a:xfrm>
          <a:prstGeom prst="rect">
            <a:avLst/>
          </a:prstGeom>
          <a:noFill/>
          <a:ln>
            <a:noFill/>
          </a:ln>
        </p:spPr>
      </p:pic>
      <p:sp>
        <p:nvSpPr>
          <p:cNvPr id="85" name="Google Shape;85;p16"/>
          <p:cNvSpPr/>
          <p:nvPr/>
        </p:nvSpPr>
        <p:spPr>
          <a:xfrm>
            <a:off x="93601" y="386204"/>
            <a:ext cx="8971200" cy="485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2600" u="sng">
                <a:solidFill>
                  <a:srgbClr val="000000"/>
                </a:solidFill>
                <a:latin typeface="Calibri"/>
                <a:ea typeface="Calibri"/>
                <a:cs typeface="Calibri"/>
                <a:sym typeface="Calibri"/>
              </a:rPr>
              <a:t>Participating Teams Overview</a:t>
            </a:r>
            <a:endParaRPr sz="2600" u="sng">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7"/>
          <p:cNvPicPr preferRelativeResize="0"/>
          <p:nvPr/>
        </p:nvPicPr>
        <p:blipFill rotWithShape="1">
          <a:blip r:embed="rId3">
            <a:alphaModFix/>
          </a:blip>
          <a:srcRect b="0" l="0" r="0" t="0"/>
          <a:stretch/>
        </p:blipFill>
        <p:spPr>
          <a:xfrm>
            <a:off x="317150" y="1443375"/>
            <a:ext cx="5415300" cy="3494700"/>
          </a:xfrm>
          <a:prstGeom prst="rect">
            <a:avLst/>
          </a:prstGeom>
          <a:noFill/>
          <a:ln>
            <a:noFill/>
          </a:ln>
        </p:spPr>
      </p:pic>
      <p:sp>
        <p:nvSpPr>
          <p:cNvPr id="91" name="Google Shape;91;p17"/>
          <p:cNvSpPr/>
          <p:nvPr/>
        </p:nvSpPr>
        <p:spPr>
          <a:xfrm>
            <a:off x="524750" y="196200"/>
            <a:ext cx="4861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0B20"/>
              </a:buClr>
              <a:buSzPts val="3000"/>
              <a:buFont typeface="Cambria"/>
              <a:buNone/>
            </a:pPr>
            <a:r>
              <a:rPr b="1" i="0" lang="en" sz="2600" u="sng" cap="none" strike="noStrike">
                <a:solidFill>
                  <a:schemeClr val="dk1"/>
                </a:solidFill>
                <a:latin typeface="Calibri"/>
                <a:ea typeface="Calibri"/>
                <a:cs typeface="Calibri"/>
                <a:sym typeface="Calibri"/>
              </a:rPr>
              <a:t>RCB's Season-wise Performance</a:t>
            </a:r>
            <a:endParaRPr i="0" sz="2600" u="sng" cap="none" strike="noStrike">
              <a:solidFill>
                <a:schemeClr val="dk1"/>
              </a:solidFill>
              <a:latin typeface="Calibri"/>
              <a:ea typeface="Calibri"/>
              <a:cs typeface="Calibri"/>
              <a:sym typeface="Calibri"/>
            </a:endParaRPr>
          </a:p>
        </p:txBody>
      </p:sp>
      <p:sp>
        <p:nvSpPr>
          <p:cNvPr id="92" name="Google Shape;92;p17"/>
          <p:cNvSpPr/>
          <p:nvPr/>
        </p:nvSpPr>
        <p:spPr>
          <a:xfrm>
            <a:off x="6031944" y="1748700"/>
            <a:ext cx="12075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F37"/>
              </a:buClr>
              <a:buSzPts val="1200"/>
              <a:buFont typeface="Calibri"/>
              <a:buNone/>
            </a:pPr>
            <a:r>
              <a:rPr b="1" i="0" lang="en" u="sng" cap="none" strike="noStrike">
                <a:solidFill>
                  <a:schemeClr val="dk1"/>
                </a:solidFill>
                <a:latin typeface="Calibri"/>
                <a:ea typeface="Calibri"/>
                <a:cs typeface="Calibri"/>
                <a:sym typeface="Calibri"/>
              </a:rPr>
              <a:t>3 OF 4 SEASONS</a:t>
            </a:r>
            <a:endParaRPr i="0" u="sng" cap="none" strike="noStrike">
              <a:solidFill>
                <a:schemeClr val="dk1"/>
              </a:solidFill>
              <a:latin typeface="Calibri"/>
              <a:ea typeface="Calibri"/>
              <a:cs typeface="Calibri"/>
              <a:sym typeface="Calibri"/>
            </a:endParaRPr>
          </a:p>
        </p:txBody>
      </p:sp>
      <p:sp>
        <p:nvSpPr>
          <p:cNvPr id="93" name="Google Shape;93;p17"/>
          <p:cNvSpPr/>
          <p:nvPr/>
        </p:nvSpPr>
        <p:spPr>
          <a:xfrm>
            <a:off x="8092440" y="2148840"/>
            <a:ext cx="31089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 sz="1400" u="none" cap="none" strike="noStrike">
                <a:solidFill>
                  <a:srgbClr val="FFFFFF"/>
                </a:solidFill>
                <a:latin typeface="Calibri"/>
                <a:ea typeface="Calibri"/>
                <a:cs typeface="Calibri"/>
                <a:sym typeface="Calibri"/>
              </a:rPr>
              <a:t>RCB won more than half their matches — a genuinely competitive league-stage record.</a:t>
            </a:r>
            <a:endParaRPr b="0" i="0" sz="1400" u="none" cap="none" strike="noStrike">
              <a:solidFill>
                <a:srgbClr val="000000"/>
              </a:solidFill>
              <a:latin typeface="Calibri"/>
              <a:ea typeface="Calibri"/>
              <a:cs typeface="Calibri"/>
              <a:sym typeface="Calibri"/>
            </a:endParaRPr>
          </a:p>
        </p:txBody>
      </p:sp>
      <p:sp>
        <p:nvSpPr>
          <p:cNvPr id="94" name="Google Shape;94;p17"/>
          <p:cNvSpPr/>
          <p:nvPr/>
        </p:nvSpPr>
        <p:spPr>
          <a:xfrm>
            <a:off x="6031950" y="1979698"/>
            <a:ext cx="3108900" cy="87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 sz="1200" u="none" cap="none" strike="noStrike">
                <a:solidFill>
                  <a:schemeClr val="dk1"/>
                </a:solidFill>
                <a:latin typeface="Calibri"/>
                <a:ea typeface="Calibri"/>
                <a:cs typeface="Calibri"/>
                <a:sym typeface="Calibri"/>
              </a:rPr>
              <a:t>RCB won more than half their matches — a genuinely competitive league-stage record.</a:t>
            </a:r>
            <a:endParaRPr b="1" i="0" sz="1200" u="none" cap="none" strike="noStrike">
              <a:solidFill>
                <a:schemeClr val="dk1"/>
              </a:solidFill>
              <a:latin typeface="Calibri"/>
              <a:ea typeface="Calibri"/>
              <a:cs typeface="Calibri"/>
              <a:sym typeface="Calibri"/>
            </a:endParaRPr>
          </a:p>
        </p:txBody>
      </p:sp>
      <p:sp>
        <p:nvSpPr>
          <p:cNvPr id="95" name="Google Shape;95;p17"/>
          <p:cNvSpPr/>
          <p:nvPr/>
        </p:nvSpPr>
        <p:spPr>
          <a:xfrm>
            <a:off x="6031950" y="2732250"/>
            <a:ext cx="31089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 sz="1200" u="none" cap="none" strike="noStrike">
                <a:solidFill>
                  <a:schemeClr val="dk1"/>
                </a:solidFill>
                <a:latin typeface="Calibri"/>
                <a:ea typeface="Calibri"/>
                <a:cs typeface="Calibri"/>
                <a:sym typeface="Calibri"/>
              </a:rPr>
              <a:t>A 35.7% win rate that season pulled down that auction cycle's overall trophy push.</a:t>
            </a:r>
            <a:endParaRPr b="1"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p:nvPr/>
        </p:nvSpPr>
        <p:spPr>
          <a:xfrm>
            <a:off x="737874" y="285950"/>
            <a:ext cx="7426500" cy="895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None/>
            </a:pPr>
            <a:r>
              <a:rPr b="1" lang="en" sz="2600" u="sng">
                <a:solidFill>
                  <a:srgbClr val="000000"/>
                </a:solidFill>
                <a:latin typeface="Calibri"/>
                <a:ea typeface="Calibri"/>
                <a:cs typeface="Calibri"/>
                <a:sym typeface="Calibri"/>
              </a:rPr>
              <a:t>Consistent Player Performance Across IPL Seasons </a:t>
            </a:r>
            <a:endParaRPr sz="2600" u="sng">
              <a:latin typeface="Calibri"/>
              <a:ea typeface="Calibri"/>
              <a:cs typeface="Calibri"/>
              <a:sym typeface="Calibri"/>
            </a:endParaRPr>
          </a:p>
          <a:p>
            <a:pPr indent="0" lvl="0" marL="0" marR="0" rtl="0" algn="l">
              <a:lnSpc>
                <a:spcPct val="104000"/>
              </a:lnSpc>
              <a:spcBef>
                <a:spcPts val="0"/>
              </a:spcBef>
              <a:spcAft>
                <a:spcPts val="0"/>
              </a:spcAft>
              <a:buNone/>
            </a:pPr>
            <a:r>
              <a:rPr b="1" lang="en" sz="2600" u="sng">
                <a:solidFill>
                  <a:srgbClr val="000000"/>
                </a:solidFill>
                <a:latin typeface="Calibri"/>
                <a:ea typeface="Calibri"/>
                <a:cs typeface="Calibri"/>
                <a:sym typeface="Calibri"/>
              </a:rPr>
              <a:t>(2013–2016)</a:t>
            </a:r>
            <a:br>
              <a:rPr lang="en" sz="2800">
                <a:solidFill>
                  <a:srgbClr val="000000"/>
                </a:solidFill>
                <a:latin typeface="Playfair Display SemiBold"/>
                <a:ea typeface="Playfair Display SemiBold"/>
                <a:cs typeface="Playfair Display SemiBold"/>
                <a:sym typeface="Playfair Display SemiBold"/>
              </a:rPr>
            </a:br>
            <a:endParaRPr sz="2750">
              <a:solidFill>
                <a:srgbClr val="000000"/>
              </a:solidFill>
              <a:latin typeface="Playfair Display SemiBold"/>
              <a:ea typeface="Playfair Display SemiBold"/>
              <a:cs typeface="Playfair Display SemiBold"/>
              <a:sym typeface="Playfair Display SemiBold"/>
            </a:endParaRPr>
          </a:p>
        </p:txBody>
      </p:sp>
      <p:pic>
        <p:nvPicPr>
          <p:cNvPr id="101" name="Google Shape;101;p18"/>
          <p:cNvPicPr preferRelativeResize="0"/>
          <p:nvPr/>
        </p:nvPicPr>
        <p:blipFill rotWithShape="1">
          <a:blip r:embed="rId3">
            <a:alphaModFix/>
          </a:blip>
          <a:srcRect b="0" l="0" r="0" t="0"/>
          <a:stretch/>
        </p:blipFill>
        <p:spPr>
          <a:xfrm>
            <a:off x="452801" y="1354366"/>
            <a:ext cx="5790824" cy="3357082"/>
          </a:xfrm>
          <a:prstGeom prst="rect">
            <a:avLst/>
          </a:prstGeom>
          <a:noFill/>
          <a:ln>
            <a:noFill/>
          </a:ln>
        </p:spPr>
      </p:pic>
      <p:sp>
        <p:nvSpPr>
          <p:cNvPr id="102" name="Google Shape;102;p18"/>
          <p:cNvSpPr txBox="1"/>
          <p:nvPr/>
        </p:nvSpPr>
        <p:spPr>
          <a:xfrm>
            <a:off x="6127725" y="1659735"/>
            <a:ext cx="2817300" cy="1739400"/>
          </a:xfrm>
          <a:prstGeom prst="rect">
            <a:avLst/>
          </a:prstGeom>
          <a:noFill/>
          <a:ln>
            <a:noFill/>
          </a:ln>
        </p:spPr>
        <p:txBody>
          <a:bodyPr anchorCtr="0" anchor="t" bIns="45700" lIns="91425" spcFirstLastPara="1" rIns="91425" wrap="square" tIns="45700">
            <a:spAutoFit/>
          </a:bodyPr>
          <a:lstStyle/>
          <a:p>
            <a:pPr indent="-304800" lvl="0" marL="457200" rtl="0" algn="l">
              <a:spcBef>
                <a:spcPts val="0"/>
              </a:spcBef>
              <a:spcAft>
                <a:spcPts val="0"/>
              </a:spcAft>
              <a:buSzPts val="1200"/>
              <a:buFont typeface="Calibri"/>
              <a:buChar char="•"/>
            </a:pPr>
            <a:r>
              <a:rPr b="1" lang="en" sz="1200">
                <a:latin typeface="Calibri"/>
                <a:ea typeface="Calibri"/>
                <a:cs typeface="Calibri"/>
                <a:sym typeface="Calibri"/>
              </a:rPr>
              <a:t>Kohli and Warner showed consistent run growth across all four seasons.</a:t>
            </a:r>
            <a:endParaRPr b="1" sz="1200">
              <a:latin typeface="Calibri"/>
              <a:ea typeface="Calibri"/>
              <a:cs typeface="Calibri"/>
              <a:sym typeface="Calibri"/>
            </a:endParaRPr>
          </a:p>
          <a:p>
            <a:pPr indent="-304800" lvl="0" marL="457200" rtl="0" algn="l">
              <a:spcBef>
                <a:spcPts val="0"/>
              </a:spcBef>
              <a:spcAft>
                <a:spcPts val="0"/>
              </a:spcAft>
              <a:buSzPts val="1200"/>
              <a:buFont typeface="Calibri"/>
              <a:buChar char="•"/>
            </a:pPr>
            <a:r>
              <a:rPr b="1" lang="en" sz="1200">
                <a:latin typeface="Calibri"/>
                <a:ea typeface="Calibri"/>
                <a:cs typeface="Calibri"/>
                <a:sym typeface="Calibri"/>
              </a:rPr>
              <a:t>Kohli posted the highest seasonal score: 969 runs (2016).</a:t>
            </a:r>
            <a:endParaRPr b="1" sz="1200">
              <a:latin typeface="Calibri"/>
              <a:ea typeface="Calibri"/>
              <a:cs typeface="Calibri"/>
              <a:sym typeface="Calibri"/>
            </a:endParaRPr>
          </a:p>
          <a:p>
            <a:pPr indent="-304800" lvl="0" marL="457200" rtl="0" algn="l">
              <a:spcBef>
                <a:spcPts val="0"/>
              </a:spcBef>
              <a:spcAft>
                <a:spcPts val="0"/>
              </a:spcAft>
              <a:buSzPts val="1200"/>
              <a:buFont typeface="Calibri"/>
              <a:buChar char="•"/>
            </a:pPr>
            <a:r>
              <a:rPr b="1" lang="en" sz="1200">
                <a:latin typeface="Calibri"/>
                <a:ea typeface="Calibri"/>
                <a:cs typeface="Calibri"/>
                <a:sym typeface="Calibri"/>
              </a:rPr>
              <a:t>Sharma and Raina stayed relatively stable throughout.</a:t>
            </a:r>
            <a:endParaRPr b="1" sz="1200">
              <a:latin typeface="Calibri"/>
              <a:ea typeface="Calibri"/>
              <a:cs typeface="Calibri"/>
              <a:sym typeface="Calibri"/>
            </a:endParaRPr>
          </a:p>
          <a:p>
            <a:pPr indent="0" lvl="0" marL="0" marR="0" rtl="0" algn="l">
              <a:spcBef>
                <a:spcPts val="0"/>
              </a:spcBef>
              <a:spcAft>
                <a:spcPts val="0"/>
              </a:spcAft>
              <a:buNone/>
            </a:pPr>
            <a:r>
              <a:t/>
            </a:r>
            <a:endParaRPr b="1" sz="1200">
              <a:latin typeface="Calibri"/>
              <a:ea typeface="Calibri"/>
              <a:cs typeface="Calibri"/>
              <a:sym typeface="Calibri"/>
            </a:endParaRPr>
          </a:p>
          <a:p>
            <a:pPr indent="0" lvl="0" marL="0" marR="0" rtl="0" algn="l">
              <a:spcBef>
                <a:spcPts val="0"/>
              </a:spcBef>
              <a:spcAft>
                <a:spcPts val="0"/>
              </a:spcAft>
              <a:buNone/>
            </a:pPr>
            <a:r>
              <a:t/>
            </a:r>
            <a:endParaRPr sz="1100">
              <a:solidFill>
                <a:srgbClr val="000000"/>
              </a:solidFill>
              <a:latin typeface="Playfair Display SemiBold"/>
              <a:ea typeface="Playfair Display SemiBold"/>
              <a:cs typeface="Playfair Display SemiBold"/>
              <a:sym typeface="Playfair Display SemiBold"/>
            </a:endParaRPr>
          </a:p>
        </p:txBody>
      </p:sp>
      <p:sp>
        <p:nvSpPr>
          <p:cNvPr id="103" name="Google Shape;103;p18"/>
          <p:cNvSpPr/>
          <p:nvPr/>
        </p:nvSpPr>
        <p:spPr>
          <a:xfrm>
            <a:off x="6419225" y="3399125"/>
            <a:ext cx="2494500" cy="685800"/>
          </a:xfrm>
          <a:prstGeom prst="roundRect">
            <a:avLst>
              <a:gd fmla="val 7638" name="adj"/>
            </a:avLst>
          </a:prstGeom>
          <a:solidFill>
            <a:srgbClr val="E066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200">
                <a:latin typeface="Calibri"/>
                <a:ea typeface="Calibri"/>
                <a:cs typeface="Calibri"/>
                <a:sym typeface="Calibri"/>
              </a:rPr>
              <a:t>Kohli was the most consistent performer, peaking at 969 runs in 2016. </a:t>
            </a:r>
            <a:endParaRPr b="1" sz="16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p:nvPr/>
        </p:nvSpPr>
        <p:spPr>
          <a:xfrm>
            <a:off x="872849" y="388500"/>
            <a:ext cx="6561300" cy="4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Venue-wise Performance of Top IPL Batsmen</a:t>
            </a:r>
            <a:endParaRPr sz="2600" u="sng">
              <a:solidFill>
                <a:srgbClr val="000000"/>
              </a:solidFill>
              <a:latin typeface="Calibri"/>
              <a:ea typeface="Calibri"/>
              <a:cs typeface="Calibri"/>
              <a:sym typeface="Calibri"/>
            </a:endParaRPr>
          </a:p>
        </p:txBody>
      </p:sp>
      <p:pic>
        <p:nvPicPr>
          <p:cNvPr id="109" name="Google Shape;109;p19"/>
          <p:cNvPicPr preferRelativeResize="0"/>
          <p:nvPr/>
        </p:nvPicPr>
        <p:blipFill rotWithShape="1">
          <a:blip r:embed="rId3">
            <a:alphaModFix/>
          </a:blip>
          <a:srcRect b="0" l="0" r="0" t="0"/>
          <a:stretch/>
        </p:blipFill>
        <p:spPr>
          <a:xfrm>
            <a:off x="391406" y="1172140"/>
            <a:ext cx="5499044" cy="3631710"/>
          </a:xfrm>
          <a:prstGeom prst="rect">
            <a:avLst/>
          </a:prstGeom>
          <a:noFill/>
          <a:ln>
            <a:noFill/>
          </a:ln>
        </p:spPr>
      </p:pic>
      <p:sp>
        <p:nvSpPr>
          <p:cNvPr id="110" name="Google Shape;110;p19"/>
          <p:cNvSpPr txBox="1"/>
          <p:nvPr/>
        </p:nvSpPr>
        <p:spPr>
          <a:xfrm>
            <a:off x="6207425" y="1549400"/>
            <a:ext cx="2685600" cy="2308800"/>
          </a:xfrm>
          <a:prstGeom prst="rect">
            <a:avLst/>
          </a:prstGeom>
          <a:noFill/>
          <a:ln>
            <a:noFill/>
          </a:ln>
        </p:spPr>
        <p:txBody>
          <a:bodyPr anchorCtr="0" anchor="t" bIns="45700" lIns="91425" spcFirstLastPara="1" rIns="91425" wrap="square" tIns="45700">
            <a:spAutoFit/>
          </a:bodyPr>
          <a:lstStyle/>
          <a:p>
            <a:pPr indent="-304800" lvl="0" marL="457200" rtl="0" algn="l">
              <a:spcBef>
                <a:spcPts val="0"/>
              </a:spcBef>
              <a:spcAft>
                <a:spcPts val="0"/>
              </a:spcAft>
              <a:buSzPts val="1200"/>
              <a:buChar char="•"/>
            </a:pPr>
            <a:r>
              <a:rPr b="1" lang="en" sz="1200">
                <a:latin typeface="Calibri"/>
                <a:ea typeface="Calibri"/>
                <a:cs typeface="Calibri"/>
                <a:sym typeface="Calibri"/>
              </a:rPr>
              <a:t>Kohli's top venue: M Chinnaswamy Stadium (1,200 runs) — strong home-ground advantage.</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De Villiers also peaked at Chinnaswamy (967 runs).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Warner's best: Rajiv Gandhi International Stadium (724 runs).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Sharma's best: Wankhede Stadium (832 runs).</a:t>
            </a:r>
            <a:endParaRPr b="1" sz="1200">
              <a:latin typeface="Calibri"/>
              <a:ea typeface="Calibri"/>
              <a:cs typeface="Calibri"/>
              <a:sym typeface="Calibri"/>
            </a:endParaRPr>
          </a:p>
          <a:p>
            <a:pPr indent="0" lvl="0" marL="457200" marR="0" rtl="0" algn="l">
              <a:spcBef>
                <a:spcPts val="0"/>
              </a:spcBef>
              <a:spcAft>
                <a:spcPts val="0"/>
              </a:spcAft>
              <a:buNone/>
            </a:pPr>
            <a:r>
              <a:t/>
            </a:r>
            <a:endParaRPr b="1" sz="12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p:nvPr/>
        </p:nvSpPr>
        <p:spPr>
          <a:xfrm>
            <a:off x="414150" y="216850"/>
            <a:ext cx="6327900" cy="4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Impact of Toss Decision on Match Outcomes</a:t>
            </a:r>
            <a:endParaRPr b="1" sz="1600" u="sng">
              <a:latin typeface="Calibri"/>
              <a:ea typeface="Calibri"/>
              <a:cs typeface="Calibri"/>
              <a:sym typeface="Calibri"/>
            </a:endParaRPr>
          </a:p>
        </p:txBody>
      </p:sp>
      <p:pic>
        <p:nvPicPr>
          <p:cNvPr id="116" name="Google Shape;116;p20"/>
          <p:cNvPicPr preferRelativeResize="0"/>
          <p:nvPr/>
        </p:nvPicPr>
        <p:blipFill rotWithShape="1">
          <a:blip r:embed="rId3">
            <a:alphaModFix/>
          </a:blip>
          <a:srcRect b="0" l="0" r="0" t="0"/>
          <a:stretch/>
        </p:blipFill>
        <p:spPr>
          <a:xfrm>
            <a:off x="414150" y="826749"/>
            <a:ext cx="4389576" cy="3975400"/>
          </a:xfrm>
          <a:prstGeom prst="rect">
            <a:avLst/>
          </a:prstGeom>
          <a:noFill/>
          <a:ln>
            <a:noFill/>
          </a:ln>
        </p:spPr>
      </p:pic>
      <p:sp>
        <p:nvSpPr>
          <p:cNvPr id="117" name="Google Shape;117;p20"/>
          <p:cNvSpPr txBox="1"/>
          <p:nvPr/>
        </p:nvSpPr>
        <p:spPr>
          <a:xfrm>
            <a:off x="5086050" y="1230600"/>
            <a:ext cx="3804600" cy="1754700"/>
          </a:xfrm>
          <a:prstGeom prst="rect">
            <a:avLst/>
          </a:prstGeom>
          <a:noFill/>
          <a:ln>
            <a:noFill/>
          </a:ln>
        </p:spPr>
        <p:txBody>
          <a:bodyPr anchorCtr="0" anchor="t" bIns="45700" lIns="91425" spcFirstLastPara="1" rIns="91425" wrap="square" tIns="45700">
            <a:spAutoFit/>
          </a:bodyPr>
          <a:lstStyle/>
          <a:p>
            <a:pPr indent="-304800" lvl="0" marL="457200" rtl="0" algn="l">
              <a:spcBef>
                <a:spcPts val="0"/>
              </a:spcBef>
              <a:spcAft>
                <a:spcPts val="0"/>
              </a:spcAft>
              <a:buSzPts val="1200"/>
              <a:buChar char="•"/>
            </a:pPr>
            <a:r>
              <a:rPr b="1" lang="en" sz="1200">
                <a:latin typeface="Calibri"/>
                <a:ea typeface="Calibri"/>
                <a:cs typeface="Calibri"/>
                <a:sym typeface="Calibri"/>
              </a:rPr>
              <a:t>Bat-first teams won 54.84% of matches vs. 43.00% for field-first — a clear edge.</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Toss impact varies sharply by venue, pointing to pitch-specific effects.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Highest dependency: Sheikh Zayed Stadium (71.43%), Maharashtra CSA (62.50%).</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Lowest dependency: Punjab CSA Bindra (28.57%), Sharjah (33.33%)</a:t>
            </a:r>
            <a:endParaRPr b="1" sz="1200">
              <a:latin typeface="Calibri"/>
              <a:ea typeface="Calibri"/>
              <a:cs typeface="Calibri"/>
              <a:sym typeface="Calibri"/>
            </a:endParaRPr>
          </a:p>
          <a:p>
            <a:pPr indent="0" lvl="0" marL="457200" marR="0" rtl="0" algn="l">
              <a:spcBef>
                <a:spcPts val="0"/>
              </a:spcBef>
              <a:spcAft>
                <a:spcPts val="0"/>
              </a:spcAft>
              <a:buNone/>
            </a:pPr>
            <a:r>
              <a:t/>
            </a:r>
            <a:endParaRPr b="1" sz="1200">
              <a:latin typeface="Calibri"/>
              <a:ea typeface="Calibri"/>
              <a:cs typeface="Calibri"/>
              <a:sym typeface="Calibri"/>
            </a:endParaRPr>
          </a:p>
        </p:txBody>
      </p:sp>
      <p:sp>
        <p:nvSpPr>
          <p:cNvPr id="118" name="Google Shape;118;p20"/>
          <p:cNvSpPr/>
          <p:nvPr/>
        </p:nvSpPr>
        <p:spPr>
          <a:xfrm>
            <a:off x="5302400" y="3282725"/>
            <a:ext cx="3480300" cy="601800"/>
          </a:xfrm>
          <a:prstGeom prst="roundRect">
            <a:avLst>
              <a:gd fmla="val 7638" name="adj"/>
            </a:avLst>
          </a:prstGeom>
          <a:solidFill>
            <a:srgbClr val="E066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200">
                <a:latin typeface="Calibri"/>
                <a:ea typeface="Calibri"/>
                <a:cs typeface="Calibri"/>
                <a:sym typeface="Calibri"/>
              </a:rPr>
              <a:t>Toss impact varies by venue — teams should use venue-specific strategies, not generic toss logic </a:t>
            </a:r>
            <a:endParaRPr b="1" sz="17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p:nvPr/>
        </p:nvSpPr>
        <p:spPr>
          <a:xfrm>
            <a:off x="526843" y="213967"/>
            <a:ext cx="7762200" cy="443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None/>
            </a:pPr>
            <a:r>
              <a:rPr b="1" lang="en" sz="2600" u="sng">
                <a:solidFill>
                  <a:srgbClr val="000000"/>
                </a:solidFill>
                <a:latin typeface="Calibri"/>
                <a:ea typeface="Calibri"/>
                <a:cs typeface="Calibri"/>
                <a:sym typeface="Calibri"/>
              </a:rPr>
              <a:t>Top All-Rounders – Batting and Bowling Contributions</a:t>
            </a:r>
            <a:endParaRPr b="1" sz="2600" u="sng">
              <a:solidFill>
                <a:srgbClr val="000000"/>
              </a:solidFill>
              <a:latin typeface="Calibri"/>
              <a:ea typeface="Calibri"/>
              <a:cs typeface="Calibri"/>
              <a:sym typeface="Calibri"/>
            </a:endParaRPr>
          </a:p>
        </p:txBody>
      </p:sp>
      <p:pic>
        <p:nvPicPr>
          <p:cNvPr id="124" name="Google Shape;124;p21"/>
          <p:cNvPicPr preferRelativeResize="0"/>
          <p:nvPr/>
        </p:nvPicPr>
        <p:blipFill rotWithShape="1">
          <a:blip r:embed="rId3">
            <a:alphaModFix/>
          </a:blip>
          <a:srcRect b="0" l="0" r="0" t="0"/>
          <a:stretch/>
        </p:blipFill>
        <p:spPr>
          <a:xfrm>
            <a:off x="334668" y="1118340"/>
            <a:ext cx="5371882" cy="3542068"/>
          </a:xfrm>
          <a:prstGeom prst="rect">
            <a:avLst/>
          </a:prstGeom>
          <a:noFill/>
          <a:ln>
            <a:noFill/>
          </a:ln>
        </p:spPr>
      </p:pic>
      <p:sp>
        <p:nvSpPr>
          <p:cNvPr id="125" name="Google Shape;125;p21"/>
          <p:cNvSpPr txBox="1"/>
          <p:nvPr/>
        </p:nvSpPr>
        <p:spPr>
          <a:xfrm>
            <a:off x="6019200" y="1118338"/>
            <a:ext cx="2959200" cy="1939500"/>
          </a:xfrm>
          <a:prstGeom prst="rect">
            <a:avLst/>
          </a:prstGeom>
          <a:noFill/>
          <a:ln>
            <a:noFill/>
          </a:ln>
        </p:spPr>
        <p:txBody>
          <a:bodyPr anchorCtr="0" anchor="t" bIns="45700" lIns="91425" spcFirstLastPara="1" rIns="91425" wrap="square" tIns="45700">
            <a:spAutoFit/>
          </a:bodyPr>
          <a:lstStyle/>
          <a:p>
            <a:pPr indent="-304800" lvl="0" marL="457200" rtl="0" algn="l">
              <a:spcBef>
                <a:spcPts val="0"/>
              </a:spcBef>
              <a:spcAft>
                <a:spcPts val="0"/>
              </a:spcAft>
              <a:buSzPts val="1200"/>
              <a:buChar char="•"/>
            </a:pPr>
            <a:r>
              <a:rPr b="1" lang="en" sz="1200">
                <a:latin typeface="Calibri"/>
                <a:ea typeface="Calibri"/>
                <a:cs typeface="Calibri"/>
                <a:sym typeface="Calibri"/>
              </a:rPr>
              <a:t>Watson: most impactful all-rounder — 1,315 runs and 54 wickets.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Smith: highest run tally among all-rounders — 1,707 runs, 15 wickets.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Pollard: balanced batting and useful bowling contributions.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Yuvraj and Duminy: added flexibility across both departments</a:t>
            </a:r>
            <a:endParaRPr b="1" sz="1200">
              <a:latin typeface="Calibri"/>
              <a:ea typeface="Calibri"/>
              <a:cs typeface="Calibri"/>
              <a:sym typeface="Calibri"/>
            </a:endParaRPr>
          </a:p>
          <a:p>
            <a:pPr indent="0" lvl="0" marL="0" marR="0" rtl="0" algn="l">
              <a:spcBef>
                <a:spcPts val="0"/>
              </a:spcBef>
              <a:spcAft>
                <a:spcPts val="0"/>
              </a:spcAft>
              <a:buNone/>
            </a:pPr>
            <a:r>
              <a:t/>
            </a:r>
            <a:endParaRPr b="1" sz="1200">
              <a:latin typeface="Calibri"/>
              <a:ea typeface="Calibri"/>
              <a:cs typeface="Calibri"/>
              <a:sym typeface="Calibri"/>
            </a:endParaRPr>
          </a:p>
        </p:txBody>
      </p:sp>
      <p:sp>
        <p:nvSpPr>
          <p:cNvPr id="126" name="Google Shape;126;p21"/>
          <p:cNvSpPr/>
          <p:nvPr/>
        </p:nvSpPr>
        <p:spPr>
          <a:xfrm>
            <a:off x="6219700" y="3294625"/>
            <a:ext cx="2717400" cy="805800"/>
          </a:xfrm>
          <a:prstGeom prst="roundRect">
            <a:avLst>
              <a:gd fmla="val 7638" name="adj"/>
            </a:avLst>
          </a:prstGeom>
          <a:solidFill>
            <a:srgbClr val="E066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200">
                <a:latin typeface="Calibri"/>
                <a:ea typeface="Calibri"/>
                <a:cs typeface="Calibri"/>
                <a:sym typeface="Calibri"/>
              </a:rPr>
              <a:t>Strong bat-and-ball contributors offer greater tactical flexibility — valuable for team selection and auctions. </a:t>
            </a:r>
            <a:endParaRPr sz="1200">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p:nvPr/>
        </p:nvSpPr>
        <p:spPr>
          <a:xfrm>
            <a:off x="503824" y="298575"/>
            <a:ext cx="7137900" cy="4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Players with the Greatest Match-Winning Impact</a:t>
            </a:r>
            <a:endParaRPr sz="2600" u="sng">
              <a:solidFill>
                <a:srgbClr val="000000"/>
              </a:solidFill>
              <a:latin typeface="Calibri"/>
              <a:ea typeface="Calibri"/>
              <a:cs typeface="Calibri"/>
              <a:sym typeface="Calibri"/>
            </a:endParaRPr>
          </a:p>
        </p:txBody>
      </p:sp>
      <p:pic>
        <p:nvPicPr>
          <p:cNvPr id="132" name="Google Shape;132;p22"/>
          <p:cNvPicPr preferRelativeResize="0"/>
          <p:nvPr/>
        </p:nvPicPr>
        <p:blipFill rotWithShape="1">
          <a:blip r:embed="rId3">
            <a:alphaModFix/>
          </a:blip>
          <a:srcRect b="0" l="0" r="0" t="0"/>
          <a:stretch/>
        </p:blipFill>
        <p:spPr>
          <a:xfrm>
            <a:off x="503818" y="937453"/>
            <a:ext cx="5479882" cy="3538429"/>
          </a:xfrm>
          <a:prstGeom prst="rect">
            <a:avLst/>
          </a:prstGeom>
          <a:noFill/>
          <a:ln>
            <a:noFill/>
          </a:ln>
        </p:spPr>
      </p:pic>
      <p:sp>
        <p:nvSpPr>
          <p:cNvPr id="133" name="Google Shape;133;p22"/>
          <p:cNvSpPr txBox="1"/>
          <p:nvPr/>
        </p:nvSpPr>
        <p:spPr>
          <a:xfrm>
            <a:off x="6219425" y="1191175"/>
            <a:ext cx="2694300" cy="1569900"/>
          </a:xfrm>
          <a:prstGeom prst="rect">
            <a:avLst/>
          </a:prstGeom>
          <a:noFill/>
          <a:ln>
            <a:noFill/>
          </a:ln>
        </p:spPr>
        <p:txBody>
          <a:bodyPr anchorCtr="0" anchor="t" bIns="45700" lIns="91425" spcFirstLastPara="1" rIns="91425" wrap="square" tIns="45700">
            <a:spAutoFit/>
          </a:bodyPr>
          <a:lstStyle/>
          <a:p>
            <a:pPr indent="-304800" lvl="0" marL="457200" rtl="0" algn="l">
              <a:spcBef>
                <a:spcPts val="0"/>
              </a:spcBef>
              <a:spcAft>
                <a:spcPts val="0"/>
              </a:spcAft>
              <a:buSzPts val="1200"/>
              <a:buChar char="•"/>
            </a:pPr>
            <a:r>
              <a:rPr b="1" lang="en" sz="1200">
                <a:latin typeface="Calibri"/>
                <a:ea typeface="Calibri"/>
                <a:cs typeface="Calibri"/>
                <a:sym typeface="Calibri"/>
              </a:rPr>
              <a:t>Warner led all players with 11 Man of the Match awards.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Rahane: 10 awards — consistent match impact.</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Kohli and de Villiers: 9 awards each.</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Sharma: 8 awards</a:t>
            </a:r>
            <a:endParaRPr b="1" sz="1200">
              <a:latin typeface="Calibri"/>
              <a:ea typeface="Calibri"/>
              <a:cs typeface="Calibri"/>
              <a:sym typeface="Calibri"/>
            </a:endParaRPr>
          </a:p>
          <a:p>
            <a:pPr indent="0" lvl="0" marL="457200" marR="0" rtl="0" algn="l">
              <a:spcBef>
                <a:spcPts val="0"/>
              </a:spcBef>
              <a:spcAft>
                <a:spcPts val="0"/>
              </a:spcAft>
              <a:buNone/>
            </a:pPr>
            <a:r>
              <a:t/>
            </a:r>
            <a:endParaRPr b="1" sz="1200">
              <a:latin typeface="Calibri"/>
              <a:ea typeface="Calibri"/>
              <a:cs typeface="Calibri"/>
              <a:sym typeface="Calibri"/>
            </a:endParaRPr>
          </a:p>
        </p:txBody>
      </p:sp>
      <p:sp>
        <p:nvSpPr>
          <p:cNvPr id="134" name="Google Shape;134;p22"/>
          <p:cNvSpPr/>
          <p:nvPr/>
        </p:nvSpPr>
        <p:spPr>
          <a:xfrm>
            <a:off x="6361975" y="3128250"/>
            <a:ext cx="2652000" cy="810300"/>
          </a:xfrm>
          <a:prstGeom prst="roundRect">
            <a:avLst>
              <a:gd fmla="val 7638" name="adj"/>
            </a:avLst>
          </a:prstGeom>
          <a:solidFill>
            <a:srgbClr val="E066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200">
                <a:latin typeface="Calibri"/>
                <a:ea typeface="Calibri"/>
                <a:cs typeface="Calibri"/>
                <a:sym typeface="Calibri"/>
              </a:rPr>
              <a:t>Frequent MOTM winners consistently influence outcomes — key assets when building a squad </a:t>
            </a:r>
            <a:r>
              <a:rPr b="1" lang="en" sz="1200">
                <a:solidFill>
                  <a:srgbClr val="000000"/>
                </a:solidFill>
                <a:latin typeface="Calibri"/>
                <a:ea typeface="Calibri"/>
                <a:cs typeface="Calibri"/>
                <a:sym typeface="Calibri"/>
              </a:rPr>
              <a:t>.</a:t>
            </a:r>
            <a:endParaRPr sz="1200">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p:nvPr/>
        </p:nvSpPr>
        <p:spPr>
          <a:xfrm>
            <a:off x="619150" y="244750"/>
            <a:ext cx="6415200" cy="768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Impact of Home-Ground Advantage on RCB Performance</a:t>
            </a:r>
            <a:endParaRPr b="1" sz="2600" u="sng">
              <a:solidFill>
                <a:srgbClr val="000000"/>
              </a:solidFill>
              <a:latin typeface="Calibri"/>
              <a:ea typeface="Calibri"/>
              <a:cs typeface="Calibri"/>
              <a:sym typeface="Calibri"/>
            </a:endParaRPr>
          </a:p>
        </p:txBody>
      </p:sp>
      <p:pic>
        <p:nvPicPr>
          <p:cNvPr id="140" name="Google Shape;140;p23"/>
          <p:cNvPicPr preferRelativeResize="0"/>
          <p:nvPr/>
        </p:nvPicPr>
        <p:blipFill rotWithShape="1">
          <a:blip r:embed="rId3">
            <a:alphaModFix/>
          </a:blip>
          <a:srcRect b="0" l="0" r="0" t="0"/>
          <a:stretch/>
        </p:blipFill>
        <p:spPr>
          <a:xfrm>
            <a:off x="496118" y="1132070"/>
            <a:ext cx="5688681" cy="3634330"/>
          </a:xfrm>
          <a:prstGeom prst="rect">
            <a:avLst/>
          </a:prstGeom>
          <a:noFill/>
          <a:ln>
            <a:noFill/>
          </a:ln>
        </p:spPr>
      </p:pic>
      <p:sp>
        <p:nvSpPr>
          <p:cNvPr id="141" name="Google Shape;141;p23"/>
          <p:cNvSpPr txBox="1"/>
          <p:nvPr/>
        </p:nvSpPr>
        <p:spPr>
          <a:xfrm>
            <a:off x="6291250" y="1371145"/>
            <a:ext cx="2664000" cy="1200600"/>
          </a:xfrm>
          <a:prstGeom prst="rect">
            <a:avLst/>
          </a:prstGeom>
          <a:noFill/>
          <a:ln>
            <a:noFill/>
          </a:ln>
        </p:spPr>
        <p:txBody>
          <a:bodyPr anchorCtr="0" anchor="t" bIns="45700" lIns="91425" spcFirstLastPara="1" rIns="91425" wrap="square" tIns="45700">
            <a:spAutoFit/>
          </a:bodyPr>
          <a:lstStyle/>
          <a:p>
            <a:pPr indent="-304800" lvl="0" marL="457200" rtl="0" algn="l">
              <a:spcBef>
                <a:spcPts val="0"/>
              </a:spcBef>
              <a:spcAft>
                <a:spcPts val="0"/>
              </a:spcAft>
              <a:buSzPts val="1200"/>
              <a:buChar char="•"/>
            </a:pPr>
            <a:r>
              <a:rPr b="1" lang="en" sz="1200">
                <a:latin typeface="Calibri"/>
                <a:ea typeface="Calibri"/>
                <a:cs typeface="Calibri"/>
                <a:sym typeface="Calibri"/>
              </a:rPr>
              <a:t>RCB's home win rate: 55.17% vs. 45.45% away.</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Won 16 of 29 home matches.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Home advantage likely from pitch familiarity and conditions</a:t>
            </a:r>
            <a:endParaRPr b="1" sz="1200">
              <a:latin typeface="Calibri"/>
              <a:ea typeface="Calibri"/>
              <a:cs typeface="Calibri"/>
              <a:sym typeface="Calibri"/>
            </a:endParaRPr>
          </a:p>
          <a:p>
            <a:pPr indent="0" lvl="0" marL="457200" marR="0" rtl="0" algn="l">
              <a:spcBef>
                <a:spcPts val="0"/>
              </a:spcBef>
              <a:spcAft>
                <a:spcPts val="0"/>
              </a:spcAft>
              <a:buNone/>
            </a:pPr>
            <a:r>
              <a:t/>
            </a:r>
            <a:endParaRPr b="1" sz="1200">
              <a:latin typeface="Calibri"/>
              <a:ea typeface="Calibri"/>
              <a:cs typeface="Calibri"/>
              <a:sym typeface="Calibri"/>
            </a:endParaRPr>
          </a:p>
        </p:txBody>
      </p:sp>
      <p:sp>
        <p:nvSpPr>
          <p:cNvPr id="142" name="Google Shape;142;p23"/>
          <p:cNvSpPr/>
          <p:nvPr/>
        </p:nvSpPr>
        <p:spPr>
          <a:xfrm>
            <a:off x="6562750" y="3046975"/>
            <a:ext cx="2328000" cy="806700"/>
          </a:xfrm>
          <a:prstGeom prst="roundRect">
            <a:avLst>
              <a:gd fmla="val 7638" name="adj"/>
            </a:avLst>
          </a:prstGeom>
          <a:solidFill>
            <a:srgbClr val="E066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200">
                <a:latin typeface="Calibri"/>
                <a:ea typeface="Calibri"/>
                <a:cs typeface="Calibri"/>
                <a:sym typeface="Calibri"/>
              </a:rPr>
              <a:t>RCB performs better at home — venue familiarity boosts performance. </a:t>
            </a:r>
            <a:endParaRPr b="1" sz="17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p:nvPr/>
        </p:nvSpPr>
        <p:spPr>
          <a:xfrm>
            <a:off x="496124" y="217175"/>
            <a:ext cx="6499800" cy="4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RCB's Batting Strength and Scoring Patterns</a:t>
            </a:r>
            <a:endParaRPr sz="2600" u="sng">
              <a:solidFill>
                <a:srgbClr val="000000"/>
              </a:solidFill>
              <a:latin typeface="Calibri"/>
              <a:ea typeface="Calibri"/>
              <a:cs typeface="Calibri"/>
              <a:sym typeface="Calibri"/>
            </a:endParaRPr>
          </a:p>
        </p:txBody>
      </p:sp>
      <p:pic>
        <p:nvPicPr>
          <p:cNvPr id="148" name="Google Shape;148;p24"/>
          <p:cNvPicPr preferRelativeResize="0"/>
          <p:nvPr/>
        </p:nvPicPr>
        <p:blipFill rotWithShape="1">
          <a:blip r:embed="rId3">
            <a:alphaModFix/>
          </a:blip>
          <a:srcRect b="0" l="0" r="0" t="0"/>
          <a:stretch/>
        </p:blipFill>
        <p:spPr>
          <a:xfrm>
            <a:off x="496125" y="830769"/>
            <a:ext cx="5091075" cy="3957725"/>
          </a:xfrm>
          <a:prstGeom prst="rect">
            <a:avLst/>
          </a:prstGeom>
          <a:noFill/>
          <a:ln>
            <a:noFill/>
          </a:ln>
        </p:spPr>
      </p:pic>
      <p:sp>
        <p:nvSpPr>
          <p:cNvPr id="149" name="Google Shape;149;p24"/>
          <p:cNvSpPr txBox="1"/>
          <p:nvPr/>
        </p:nvSpPr>
        <p:spPr>
          <a:xfrm>
            <a:off x="5848200" y="945654"/>
            <a:ext cx="3214800" cy="2308800"/>
          </a:xfrm>
          <a:prstGeom prst="rect">
            <a:avLst/>
          </a:prstGeom>
          <a:noFill/>
          <a:ln>
            <a:noFill/>
          </a:ln>
        </p:spPr>
        <p:txBody>
          <a:bodyPr anchorCtr="0" anchor="t" bIns="45700" lIns="91425" spcFirstLastPara="1" rIns="91425" wrap="square" tIns="45700">
            <a:spAutoFit/>
          </a:bodyPr>
          <a:lstStyle/>
          <a:p>
            <a:pPr indent="-304800" lvl="0" marL="457200" rtl="0" algn="l">
              <a:spcBef>
                <a:spcPts val="0"/>
              </a:spcBef>
              <a:spcAft>
                <a:spcPts val="0"/>
              </a:spcAft>
              <a:buSzPts val="1200"/>
              <a:buChar char="•"/>
            </a:pPr>
            <a:r>
              <a:rPr b="1" lang="en" sz="1200">
                <a:latin typeface="Calibri"/>
                <a:ea typeface="Calibri"/>
                <a:cs typeface="Calibri"/>
                <a:sym typeface="Calibri"/>
              </a:rPr>
              <a:t>RCB recorded the highest average team score in the IPL (153.24 runs).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RCB also led in boundary contribution (63.47%), well ahead of MI and KXIP — showing a power-hitting approach over strike rotation.</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This aggressive style let RCB consistently post competitive totals across seasons.</a:t>
            </a:r>
            <a:endParaRPr b="1" sz="1200">
              <a:latin typeface="Calibri"/>
              <a:ea typeface="Calibri"/>
              <a:cs typeface="Calibri"/>
              <a:sym typeface="Calibri"/>
            </a:endParaRPr>
          </a:p>
          <a:p>
            <a:pPr indent="-304800" lvl="0" marL="457200" rtl="0" algn="l">
              <a:spcBef>
                <a:spcPts val="0"/>
              </a:spcBef>
              <a:spcAft>
                <a:spcPts val="0"/>
              </a:spcAft>
              <a:buSzPts val="1200"/>
              <a:buChar char="•"/>
            </a:pPr>
            <a:r>
              <a:rPr b="1" lang="en" sz="1200">
                <a:latin typeface="Calibri"/>
                <a:ea typeface="Calibri"/>
                <a:cs typeface="Calibri"/>
                <a:sym typeface="Calibri"/>
              </a:rPr>
              <a:t>Their batting strategy leaned heavily on power hitters and boundary-scoring chances</a:t>
            </a:r>
            <a:endParaRPr b="1" sz="1200">
              <a:latin typeface="Calibri"/>
              <a:ea typeface="Calibri"/>
              <a:cs typeface="Calibri"/>
              <a:sym typeface="Calibri"/>
            </a:endParaRPr>
          </a:p>
          <a:p>
            <a:pPr indent="0" lvl="0" marL="457200" marR="0" rtl="0" algn="l">
              <a:spcBef>
                <a:spcPts val="0"/>
              </a:spcBef>
              <a:spcAft>
                <a:spcPts val="0"/>
              </a:spcAft>
              <a:buNone/>
            </a:pPr>
            <a:r>
              <a:t/>
            </a:r>
            <a:endParaRPr b="1" sz="1200">
              <a:latin typeface="Calibri"/>
              <a:ea typeface="Calibri"/>
              <a:cs typeface="Calibri"/>
              <a:sym typeface="Calibri"/>
            </a:endParaRPr>
          </a:p>
        </p:txBody>
      </p:sp>
      <p:sp>
        <p:nvSpPr>
          <p:cNvPr id="150" name="Google Shape;150;p24"/>
          <p:cNvSpPr/>
          <p:nvPr/>
        </p:nvSpPr>
        <p:spPr>
          <a:xfrm>
            <a:off x="5925600" y="3254450"/>
            <a:ext cx="3060000" cy="761100"/>
          </a:xfrm>
          <a:prstGeom prst="roundRect">
            <a:avLst>
              <a:gd fmla="val 7638" name="adj"/>
            </a:avLst>
          </a:prstGeom>
          <a:solidFill>
            <a:srgbClr val="E066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200">
                <a:latin typeface="Calibri"/>
                <a:ea typeface="Calibri"/>
                <a:cs typeface="Calibri"/>
                <a:sym typeface="Calibri"/>
              </a:rPr>
              <a:t>RCB's success was driven by aggressive batting and boundary scoring — one of the IPL's most explosive lineups </a:t>
            </a:r>
            <a:endParaRPr sz="1200">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p:nvPr/>
        </p:nvSpPr>
        <p:spPr>
          <a:xfrm>
            <a:off x="555500" y="403775"/>
            <a:ext cx="63480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0B20"/>
              </a:buClr>
              <a:buSzPts val="3000"/>
              <a:buFont typeface="Cambria"/>
              <a:buNone/>
            </a:pPr>
            <a:r>
              <a:rPr b="1" i="0" lang="en" sz="2600" u="sng" cap="none" strike="noStrike">
                <a:solidFill>
                  <a:schemeClr val="dk1"/>
                </a:solidFill>
                <a:latin typeface="Calibri"/>
                <a:ea typeface="Calibri"/>
                <a:cs typeface="Calibri"/>
                <a:sym typeface="Calibri"/>
              </a:rPr>
              <a:t>RCB's Bowling Weak Spot: The Death Overs</a:t>
            </a:r>
            <a:endParaRPr i="0" sz="2600" u="sng" cap="none" strike="noStrike">
              <a:solidFill>
                <a:schemeClr val="dk1"/>
              </a:solidFill>
              <a:latin typeface="Calibri"/>
              <a:ea typeface="Calibri"/>
              <a:cs typeface="Calibri"/>
              <a:sym typeface="Calibri"/>
            </a:endParaRPr>
          </a:p>
        </p:txBody>
      </p:sp>
      <p:pic>
        <p:nvPicPr>
          <p:cNvPr id="156" name="Google Shape;156;p25"/>
          <p:cNvPicPr preferRelativeResize="0"/>
          <p:nvPr/>
        </p:nvPicPr>
        <p:blipFill rotWithShape="1">
          <a:blip r:embed="rId3">
            <a:alphaModFix/>
          </a:blip>
          <a:srcRect b="0" l="0" r="0" t="0"/>
          <a:stretch/>
        </p:blipFill>
        <p:spPr>
          <a:xfrm>
            <a:off x="394025" y="1146600"/>
            <a:ext cx="5645100" cy="3479700"/>
          </a:xfrm>
          <a:prstGeom prst="rect">
            <a:avLst/>
          </a:prstGeom>
          <a:noFill/>
          <a:ln>
            <a:noFill/>
          </a:ln>
        </p:spPr>
      </p:pic>
      <p:sp>
        <p:nvSpPr>
          <p:cNvPr id="157" name="Google Shape;157;p25"/>
          <p:cNvSpPr/>
          <p:nvPr/>
        </p:nvSpPr>
        <p:spPr>
          <a:xfrm>
            <a:off x="5870250" y="2028175"/>
            <a:ext cx="2976300" cy="10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62626"/>
              </a:buClr>
              <a:buSzPts val="1300"/>
              <a:buFont typeface="Calibri"/>
              <a:buNone/>
            </a:pPr>
            <a:r>
              <a:rPr b="1" i="0" lang="en" sz="1200" u="none" cap="none" strike="noStrike">
                <a:solidFill>
                  <a:srgbClr val="262626"/>
                </a:solidFill>
                <a:latin typeface="Calibri"/>
                <a:ea typeface="Calibri"/>
                <a:cs typeface="Calibri"/>
                <a:sym typeface="Calibri"/>
              </a:rPr>
              <a:t>RCB's economy climbs sharply in the last 5 overs — among the worst death-overs figures in the league, behind only a handful of teams.</a:t>
            </a:r>
            <a:endParaRPr b="1" i="0" sz="1200" u="none" cap="none" strike="noStrike">
              <a:solidFill>
                <a:srgbClr val="000000"/>
              </a:solidFill>
              <a:latin typeface="Calibri"/>
              <a:ea typeface="Calibri"/>
              <a:cs typeface="Calibri"/>
              <a:sym typeface="Calibri"/>
            </a:endParaRPr>
          </a:p>
        </p:txBody>
      </p:sp>
      <p:sp>
        <p:nvSpPr>
          <p:cNvPr id="158" name="Google Shape;158;p25"/>
          <p:cNvSpPr/>
          <p:nvPr/>
        </p:nvSpPr>
        <p:spPr>
          <a:xfrm>
            <a:off x="5847750" y="3266000"/>
            <a:ext cx="3021300" cy="872100"/>
          </a:xfrm>
          <a:prstGeom prst="rect">
            <a:avLst/>
          </a:prstGeom>
          <a:solidFill>
            <a:srgbClr val="E06666"/>
          </a:solidFill>
          <a:ln>
            <a:noFill/>
          </a:ln>
        </p:spPr>
        <p:txBody>
          <a:bodyPr anchorCtr="0" anchor="ctr" bIns="0" lIns="0" spcFirstLastPara="1" rIns="0" wrap="square" tIns="0">
            <a:noAutofit/>
          </a:bodyPr>
          <a:lstStyle/>
          <a:p>
            <a:pPr indent="0" lvl="0" marL="0" marR="0" rtl="0" algn="l">
              <a:spcBef>
                <a:spcPts val="0"/>
              </a:spcBef>
              <a:spcAft>
                <a:spcPts val="0"/>
              </a:spcAft>
              <a:buClr>
                <a:srgbClr val="6B6B6E"/>
              </a:buClr>
              <a:buSzPts val="1200"/>
              <a:buFont typeface="Calibri"/>
              <a:buNone/>
            </a:pPr>
            <a:r>
              <a:rPr b="1" lang="en" sz="1200" u="none" cap="none" strike="noStrike">
                <a:solidFill>
                  <a:schemeClr val="dk1"/>
                </a:solidFill>
                <a:latin typeface="Calibri"/>
                <a:ea typeface="Calibri"/>
                <a:cs typeface="Calibri"/>
                <a:sym typeface="Calibri"/>
              </a:rPr>
              <a:t>This is the single clearest weakness in the bowling data, and the most actionable target for the next auction.</a:t>
            </a:r>
            <a:endParaRPr b="1" sz="1200" u="none" cap="none" strike="noStrike">
              <a:solidFill>
                <a:schemeClr val="dk1"/>
              </a:solidFill>
              <a:latin typeface="Calibri"/>
              <a:ea typeface="Calibri"/>
              <a:cs typeface="Calibri"/>
              <a:sym typeface="Calibri"/>
            </a:endParaRPr>
          </a:p>
        </p:txBody>
      </p:sp>
      <p:sp>
        <p:nvSpPr>
          <p:cNvPr id="159" name="Google Shape;159;p25"/>
          <p:cNvSpPr/>
          <p:nvPr/>
        </p:nvSpPr>
        <p:spPr>
          <a:xfrm>
            <a:off x="5763175" y="1570975"/>
            <a:ext cx="2129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0B20"/>
              </a:buClr>
              <a:buSzPts val="1600"/>
              <a:buFont typeface="Cambria"/>
              <a:buNone/>
            </a:pPr>
            <a:r>
              <a:rPr b="1" lang="en" sz="1600">
                <a:solidFill>
                  <a:srgbClr val="8C0B20"/>
                </a:solidFill>
                <a:latin typeface="Cambria"/>
                <a:ea typeface="Cambria"/>
                <a:cs typeface="Cambria"/>
                <a:sym typeface="Cambria"/>
              </a:rPr>
              <a:t>  </a:t>
            </a:r>
            <a:r>
              <a:rPr b="1" lang="en" u="sng">
                <a:latin typeface="Calibri"/>
                <a:ea typeface="Calibri"/>
                <a:cs typeface="Calibri"/>
                <a:sym typeface="Calibri"/>
              </a:rPr>
              <a:t> </a:t>
            </a:r>
            <a:r>
              <a:rPr b="1" i="0" lang="en" u="sng" cap="none" strike="noStrike">
                <a:latin typeface="Calibri"/>
                <a:ea typeface="Calibri"/>
                <a:cs typeface="Calibri"/>
                <a:sym typeface="Calibri"/>
              </a:rPr>
              <a:t>9.29 at the death</a:t>
            </a:r>
            <a:endParaRPr b="1" i="0" u="sng" cap="none" strike="noStrike">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6"/>
          <p:cNvPicPr preferRelativeResize="0"/>
          <p:nvPr/>
        </p:nvPicPr>
        <p:blipFill>
          <a:blip r:embed="rId3">
            <a:alphaModFix/>
          </a:blip>
          <a:stretch>
            <a:fillRect/>
          </a:stretch>
        </p:blipFill>
        <p:spPr>
          <a:xfrm>
            <a:off x="5403525" y="152400"/>
            <a:ext cx="3600276" cy="4838700"/>
          </a:xfrm>
          <a:prstGeom prst="rect">
            <a:avLst/>
          </a:prstGeom>
          <a:noFill/>
          <a:ln>
            <a:noFill/>
          </a:ln>
        </p:spPr>
      </p:pic>
      <p:sp>
        <p:nvSpPr>
          <p:cNvPr id="165" name="Google Shape;165;p26"/>
          <p:cNvSpPr/>
          <p:nvPr/>
        </p:nvSpPr>
        <p:spPr>
          <a:xfrm>
            <a:off x="365419" y="312155"/>
            <a:ext cx="4722900" cy="8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Key Challenges Limiting RCB's Championship Success</a:t>
            </a:r>
            <a:endParaRPr sz="2600" u="sng">
              <a:solidFill>
                <a:srgbClr val="000000"/>
              </a:solidFill>
              <a:latin typeface="Calibri"/>
              <a:ea typeface="Calibri"/>
              <a:cs typeface="Calibri"/>
              <a:sym typeface="Calibri"/>
            </a:endParaRPr>
          </a:p>
        </p:txBody>
      </p:sp>
      <p:sp>
        <p:nvSpPr>
          <p:cNvPr id="166" name="Google Shape;166;p26"/>
          <p:cNvSpPr/>
          <p:nvPr/>
        </p:nvSpPr>
        <p:spPr>
          <a:xfrm>
            <a:off x="261675" y="1390050"/>
            <a:ext cx="4241400" cy="2671800"/>
          </a:xfrm>
          <a:prstGeom prst="rect">
            <a:avLst/>
          </a:prstGeom>
          <a:noFill/>
          <a:ln>
            <a:noFill/>
          </a:ln>
        </p:spPr>
        <p:txBody>
          <a:bodyPr anchorCtr="0" anchor="t" bIns="0" lIns="0" spcFirstLastPara="1" rIns="0" wrap="square" tIns="0">
            <a:noAutofit/>
          </a:bodyPr>
          <a:lstStyle/>
          <a:p>
            <a:pPr indent="-330200" lvl="0" marL="457200" rtl="0" algn="l">
              <a:lnSpc>
                <a:spcPct val="104000"/>
              </a:lnSpc>
              <a:spcBef>
                <a:spcPts val="0"/>
              </a:spcBef>
              <a:spcAft>
                <a:spcPts val="0"/>
              </a:spcAft>
              <a:buClr>
                <a:schemeClr val="dk1"/>
              </a:buClr>
              <a:buSzPts val="1600"/>
              <a:buFont typeface="Calibri"/>
              <a:buChar char="●"/>
            </a:pPr>
            <a:r>
              <a:rPr b="1" lang="en" sz="1600" u="sng">
                <a:solidFill>
                  <a:schemeClr val="dk1"/>
                </a:solidFill>
                <a:latin typeface="Calibri"/>
                <a:ea typeface="Calibri"/>
                <a:cs typeface="Calibri"/>
                <a:sym typeface="Calibri"/>
              </a:rPr>
              <a:t> Star Dependence</a:t>
            </a:r>
            <a:endParaRPr b="1" sz="1600" u="sng">
              <a:solidFill>
                <a:schemeClr val="dk1"/>
              </a:solidFill>
              <a:latin typeface="Calibri"/>
              <a:ea typeface="Calibri"/>
              <a:cs typeface="Calibri"/>
              <a:sym typeface="Calibri"/>
            </a:endParaRPr>
          </a:p>
          <a:p>
            <a:pPr indent="0" lvl="0" marL="457200" rtl="0" algn="l">
              <a:lnSpc>
                <a:spcPct val="104000"/>
              </a:lnSpc>
              <a:spcBef>
                <a:spcPts val="0"/>
              </a:spcBef>
              <a:spcAft>
                <a:spcPts val="0"/>
              </a:spcAft>
              <a:buNone/>
            </a:pPr>
            <a:r>
              <a:rPr b="1" lang="en" sz="1200">
                <a:solidFill>
                  <a:schemeClr val="dk1"/>
                </a:solidFill>
                <a:latin typeface="Calibri"/>
                <a:ea typeface="Calibri"/>
                <a:cs typeface="Calibri"/>
                <a:sym typeface="Calibri"/>
              </a:rPr>
              <a:t>Heavy reliance on Kohli and de Villiers.</a:t>
            </a:r>
            <a:endParaRPr b="1" sz="1200">
              <a:solidFill>
                <a:schemeClr val="dk1"/>
              </a:solidFill>
              <a:latin typeface="Calibri"/>
              <a:ea typeface="Calibri"/>
              <a:cs typeface="Calibri"/>
              <a:sym typeface="Calibri"/>
            </a:endParaRPr>
          </a:p>
          <a:p>
            <a:pPr indent="0" lvl="0" marL="457200" rtl="0" algn="l">
              <a:lnSpc>
                <a:spcPct val="104000"/>
              </a:lnSpc>
              <a:spcBef>
                <a:spcPts val="0"/>
              </a:spcBef>
              <a:spcAft>
                <a:spcPts val="0"/>
              </a:spcAft>
              <a:buNone/>
            </a:pPr>
            <a:r>
              <a:t/>
            </a:r>
            <a:endParaRPr b="1" sz="1200">
              <a:solidFill>
                <a:schemeClr val="dk1"/>
              </a:solidFill>
              <a:latin typeface="Calibri"/>
              <a:ea typeface="Calibri"/>
              <a:cs typeface="Calibri"/>
              <a:sym typeface="Calibri"/>
            </a:endParaRPr>
          </a:p>
          <a:p>
            <a:pPr indent="-330200" lvl="0" marL="457200" rtl="0" algn="l">
              <a:lnSpc>
                <a:spcPct val="104000"/>
              </a:lnSpc>
              <a:spcBef>
                <a:spcPts val="0"/>
              </a:spcBef>
              <a:spcAft>
                <a:spcPts val="0"/>
              </a:spcAft>
              <a:buClr>
                <a:schemeClr val="dk1"/>
              </a:buClr>
              <a:buSzPts val="1600"/>
              <a:buFont typeface="Calibri"/>
              <a:buChar char="●"/>
            </a:pPr>
            <a:r>
              <a:rPr b="1" lang="en" sz="1600" u="sng">
                <a:solidFill>
                  <a:schemeClr val="dk1"/>
                </a:solidFill>
                <a:latin typeface="Calibri"/>
                <a:ea typeface="Calibri"/>
                <a:cs typeface="Calibri"/>
                <a:sym typeface="Calibri"/>
              </a:rPr>
              <a:t>Boundary-Heavy Batting</a:t>
            </a:r>
            <a:endParaRPr b="1" sz="1600" u="sng">
              <a:solidFill>
                <a:schemeClr val="dk1"/>
              </a:solidFill>
              <a:latin typeface="Calibri"/>
              <a:ea typeface="Calibri"/>
              <a:cs typeface="Calibri"/>
              <a:sym typeface="Calibri"/>
            </a:endParaRPr>
          </a:p>
          <a:p>
            <a:pPr indent="0" lvl="0" marL="457200" rtl="0" algn="l">
              <a:lnSpc>
                <a:spcPct val="104000"/>
              </a:lnSpc>
              <a:spcBef>
                <a:spcPts val="0"/>
              </a:spcBef>
              <a:spcAft>
                <a:spcPts val="0"/>
              </a:spcAft>
              <a:buNone/>
            </a:pPr>
            <a:r>
              <a:rPr b="1" lang="en" sz="1200">
                <a:solidFill>
                  <a:schemeClr val="dk1"/>
                </a:solidFill>
                <a:latin typeface="Calibri"/>
                <a:ea typeface="Calibri"/>
                <a:cs typeface="Calibri"/>
                <a:sym typeface="Calibri"/>
              </a:rPr>
              <a:t>63.47% of runs from boundaries — risky over-reliance on power hitting.</a:t>
            </a:r>
            <a:endParaRPr b="1" sz="1200">
              <a:solidFill>
                <a:schemeClr val="dk1"/>
              </a:solidFill>
              <a:latin typeface="Calibri"/>
              <a:ea typeface="Calibri"/>
              <a:cs typeface="Calibri"/>
              <a:sym typeface="Calibri"/>
            </a:endParaRPr>
          </a:p>
          <a:p>
            <a:pPr indent="0" lvl="0" marL="457200" rtl="0" algn="l">
              <a:lnSpc>
                <a:spcPct val="104000"/>
              </a:lnSpc>
              <a:spcBef>
                <a:spcPts val="0"/>
              </a:spcBef>
              <a:spcAft>
                <a:spcPts val="0"/>
              </a:spcAft>
              <a:buNone/>
            </a:pPr>
            <a:r>
              <a:t/>
            </a:r>
            <a:endParaRPr b="1" sz="1200">
              <a:solidFill>
                <a:schemeClr val="dk1"/>
              </a:solidFill>
              <a:latin typeface="Calibri"/>
              <a:ea typeface="Calibri"/>
              <a:cs typeface="Calibri"/>
              <a:sym typeface="Calibri"/>
            </a:endParaRPr>
          </a:p>
          <a:p>
            <a:pPr indent="-330200" lvl="0" marL="457200" rtl="0" algn="l">
              <a:lnSpc>
                <a:spcPct val="104000"/>
              </a:lnSpc>
              <a:spcBef>
                <a:spcPts val="0"/>
              </a:spcBef>
              <a:spcAft>
                <a:spcPts val="0"/>
              </a:spcAft>
              <a:buClr>
                <a:schemeClr val="dk1"/>
              </a:buClr>
              <a:buSzPts val="1600"/>
              <a:buFont typeface="Calibri"/>
              <a:buChar char="●"/>
            </a:pPr>
            <a:r>
              <a:rPr b="1" lang="en" sz="1600" u="sng">
                <a:solidFill>
                  <a:schemeClr val="dk1"/>
                </a:solidFill>
                <a:latin typeface="Calibri"/>
                <a:ea typeface="Calibri"/>
                <a:cs typeface="Calibri"/>
                <a:sym typeface="Calibri"/>
              </a:rPr>
              <a:t>Inconsistent Away Form</a:t>
            </a:r>
            <a:endParaRPr b="1" sz="1600" u="sng">
              <a:solidFill>
                <a:schemeClr val="dk1"/>
              </a:solidFill>
              <a:latin typeface="Calibri"/>
              <a:ea typeface="Calibri"/>
              <a:cs typeface="Calibri"/>
              <a:sym typeface="Calibri"/>
            </a:endParaRPr>
          </a:p>
          <a:p>
            <a:pPr indent="0" lvl="0" marL="457200" rtl="0" algn="l">
              <a:lnSpc>
                <a:spcPct val="104000"/>
              </a:lnSpc>
              <a:spcBef>
                <a:spcPts val="0"/>
              </a:spcBef>
              <a:spcAft>
                <a:spcPts val="0"/>
              </a:spcAft>
              <a:buNone/>
            </a:pPr>
            <a:r>
              <a:rPr b="1" lang="en" sz="1200">
                <a:solidFill>
                  <a:schemeClr val="dk1"/>
                </a:solidFill>
                <a:latin typeface="Calibri"/>
                <a:ea typeface="Calibri"/>
                <a:cs typeface="Calibri"/>
                <a:sym typeface="Calibri"/>
              </a:rPr>
              <a:t>45.45% away win rate vs. 55.17% at home.</a:t>
            </a:r>
            <a:endParaRPr b="1" sz="1200">
              <a:solidFill>
                <a:schemeClr val="dk1"/>
              </a:solidFill>
              <a:latin typeface="Calibri"/>
              <a:ea typeface="Calibri"/>
              <a:cs typeface="Calibri"/>
              <a:sym typeface="Calibri"/>
            </a:endParaRPr>
          </a:p>
          <a:p>
            <a:pPr indent="0" lvl="0" marL="457200" rtl="0" algn="l">
              <a:lnSpc>
                <a:spcPct val="104000"/>
              </a:lnSpc>
              <a:spcBef>
                <a:spcPts val="0"/>
              </a:spcBef>
              <a:spcAft>
                <a:spcPts val="0"/>
              </a:spcAft>
              <a:buNone/>
            </a:pPr>
            <a:r>
              <a:t/>
            </a:r>
            <a:endParaRPr b="1" sz="1200">
              <a:solidFill>
                <a:schemeClr val="dk1"/>
              </a:solidFill>
              <a:latin typeface="Calibri"/>
              <a:ea typeface="Calibri"/>
              <a:cs typeface="Calibri"/>
              <a:sym typeface="Calibri"/>
            </a:endParaRPr>
          </a:p>
          <a:p>
            <a:pPr indent="-330200" lvl="0" marL="457200" rtl="0" algn="l">
              <a:lnSpc>
                <a:spcPct val="104000"/>
              </a:lnSpc>
              <a:spcBef>
                <a:spcPts val="0"/>
              </a:spcBef>
              <a:spcAft>
                <a:spcPts val="0"/>
              </a:spcAft>
              <a:buClr>
                <a:schemeClr val="dk1"/>
              </a:buClr>
              <a:buSzPts val="1600"/>
              <a:buFont typeface="Calibri"/>
              <a:buChar char="●"/>
            </a:pPr>
            <a:r>
              <a:rPr b="1" lang="en" sz="1600" u="sng">
                <a:solidFill>
                  <a:schemeClr val="dk1"/>
                </a:solidFill>
                <a:latin typeface="Calibri"/>
                <a:ea typeface="Calibri"/>
                <a:cs typeface="Calibri"/>
                <a:sym typeface="Calibri"/>
              </a:rPr>
              <a:t>Imbalanced Squad</a:t>
            </a:r>
            <a:endParaRPr b="1" sz="1600" u="sng">
              <a:solidFill>
                <a:schemeClr val="dk1"/>
              </a:solidFill>
              <a:latin typeface="Calibri"/>
              <a:ea typeface="Calibri"/>
              <a:cs typeface="Calibri"/>
              <a:sym typeface="Calibri"/>
            </a:endParaRPr>
          </a:p>
          <a:p>
            <a:pPr indent="0" lvl="0" marL="457200" rtl="0" algn="l">
              <a:lnSpc>
                <a:spcPct val="104000"/>
              </a:lnSpc>
              <a:spcBef>
                <a:spcPts val="0"/>
              </a:spcBef>
              <a:spcAft>
                <a:spcPts val="0"/>
              </a:spcAft>
              <a:buNone/>
            </a:pPr>
            <a:r>
              <a:rPr b="1" lang="en" sz="1200">
                <a:solidFill>
                  <a:schemeClr val="dk1"/>
                </a:solidFill>
                <a:latin typeface="Calibri"/>
                <a:ea typeface="Calibri"/>
                <a:cs typeface="Calibri"/>
                <a:sym typeface="Calibri"/>
              </a:rPr>
              <a:t>Success leaned on a few key performers, not depth</a:t>
            </a:r>
            <a:endParaRPr b="1" sz="1200">
              <a:solidFill>
                <a:schemeClr val="dk1"/>
              </a:solidFill>
              <a:latin typeface="Calibri"/>
              <a:ea typeface="Calibri"/>
              <a:cs typeface="Calibri"/>
              <a:sym typeface="Calibri"/>
            </a:endParaRPr>
          </a:p>
          <a:p>
            <a:pPr indent="0" lvl="0" marL="0" marR="0" rtl="0" algn="l">
              <a:lnSpc>
                <a:spcPct val="104000"/>
              </a:lnSpc>
              <a:spcBef>
                <a:spcPts val="0"/>
              </a:spcBef>
              <a:spcAft>
                <a:spcPts val="0"/>
              </a:spcAft>
              <a:buNone/>
            </a:pPr>
            <a:r>
              <a:t/>
            </a:r>
            <a:endParaRPr b="1">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p:nvPr/>
        </p:nvSpPr>
        <p:spPr>
          <a:xfrm>
            <a:off x="496119" y="303986"/>
            <a:ext cx="7332300" cy="4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Data-Driven Recommendations for Future Success</a:t>
            </a:r>
            <a:endParaRPr sz="2600" u="sng">
              <a:solidFill>
                <a:srgbClr val="000000"/>
              </a:solidFill>
              <a:latin typeface="Calibri"/>
              <a:ea typeface="Calibri"/>
              <a:cs typeface="Calibri"/>
              <a:sym typeface="Calibri"/>
            </a:endParaRPr>
          </a:p>
        </p:txBody>
      </p:sp>
      <p:pic>
        <p:nvPicPr>
          <p:cNvPr id="172" name="Google Shape;172;p27"/>
          <p:cNvPicPr preferRelativeResize="0"/>
          <p:nvPr/>
        </p:nvPicPr>
        <p:blipFill>
          <a:blip r:embed="rId3">
            <a:alphaModFix/>
          </a:blip>
          <a:stretch>
            <a:fillRect/>
          </a:stretch>
        </p:blipFill>
        <p:spPr>
          <a:xfrm>
            <a:off x="4803850" y="837986"/>
            <a:ext cx="3933825" cy="3886200"/>
          </a:xfrm>
          <a:prstGeom prst="rect">
            <a:avLst/>
          </a:prstGeom>
          <a:noFill/>
          <a:ln>
            <a:noFill/>
          </a:ln>
        </p:spPr>
      </p:pic>
      <p:sp>
        <p:nvSpPr>
          <p:cNvPr id="173" name="Google Shape;173;p27"/>
          <p:cNvSpPr/>
          <p:nvPr/>
        </p:nvSpPr>
        <p:spPr>
          <a:xfrm>
            <a:off x="496125" y="1100650"/>
            <a:ext cx="4093800" cy="32697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SzPts val="1400"/>
              <a:buFont typeface="Calibri"/>
              <a:buChar char="●"/>
            </a:pPr>
            <a:r>
              <a:rPr b="1" lang="en">
                <a:latin typeface="Calibri"/>
                <a:ea typeface="Calibri"/>
                <a:cs typeface="Calibri"/>
                <a:sym typeface="Calibri"/>
              </a:rPr>
              <a:t>Strengthen bowling with wicket-taking options.</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Invest in quality all-rounders.</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Build a stronger middle order to reduce star dependence.</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Improve away-match adaptability.</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Prioritize players with proven match-winning ability.</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Keep leveraging home advantage at Chinnaswamy Stadium.</a:t>
            </a:r>
            <a:endParaRPr b="1">
              <a:latin typeface="Calibri"/>
              <a:ea typeface="Calibri"/>
              <a:cs typeface="Calibri"/>
              <a:sym typeface="Calibri"/>
            </a:endParaRPr>
          </a:p>
          <a:p>
            <a:pPr indent="0" lvl="0" marL="0" marR="0" rtl="0" algn="l">
              <a:spcBef>
                <a:spcPts val="0"/>
              </a:spcBef>
              <a:spcAft>
                <a:spcPts val="0"/>
              </a:spcAft>
              <a:buNone/>
            </a:pPr>
            <a:r>
              <a:t/>
            </a:r>
            <a:endParaRPr b="1">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8"/>
          <p:cNvPicPr preferRelativeResize="0"/>
          <p:nvPr/>
        </p:nvPicPr>
        <p:blipFill>
          <a:blip r:embed="rId3">
            <a:alphaModFix/>
          </a:blip>
          <a:stretch>
            <a:fillRect/>
          </a:stretch>
        </p:blipFill>
        <p:spPr>
          <a:xfrm>
            <a:off x="4250275" y="261938"/>
            <a:ext cx="4572000" cy="4619625"/>
          </a:xfrm>
          <a:prstGeom prst="rect">
            <a:avLst/>
          </a:prstGeom>
          <a:noFill/>
          <a:ln>
            <a:noFill/>
          </a:ln>
        </p:spPr>
      </p:pic>
      <p:sp>
        <p:nvSpPr>
          <p:cNvPr id="179" name="Google Shape;179;p28"/>
          <p:cNvSpPr/>
          <p:nvPr/>
        </p:nvSpPr>
        <p:spPr>
          <a:xfrm>
            <a:off x="1042000" y="564275"/>
            <a:ext cx="1871400" cy="4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600" u="sng">
                <a:solidFill>
                  <a:srgbClr val="000000"/>
                </a:solidFill>
                <a:latin typeface="Calibri"/>
                <a:ea typeface="Calibri"/>
                <a:cs typeface="Calibri"/>
                <a:sym typeface="Calibri"/>
              </a:rPr>
              <a:t>Conclusion</a:t>
            </a:r>
            <a:endParaRPr sz="2600" u="sng">
              <a:solidFill>
                <a:srgbClr val="000000"/>
              </a:solidFill>
              <a:latin typeface="Calibri"/>
              <a:ea typeface="Calibri"/>
              <a:cs typeface="Calibri"/>
              <a:sym typeface="Calibri"/>
            </a:endParaRPr>
          </a:p>
        </p:txBody>
      </p:sp>
      <p:sp>
        <p:nvSpPr>
          <p:cNvPr id="180" name="Google Shape;180;p28"/>
          <p:cNvSpPr txBox="1"/>
          <p:nvPr/>
        </p:nvSpPr>
        <p:spPr>
          <a:xfrm>
            <a:off x="373125" y="1293150"/>
            <a:ext cx="3655200" cy="3324600"/>
          </a:xfrm>
          <a:prstGeom prst="rect">
            <a:avLst/>
          </a:prstGeom>
          <a:noFill/>
          <a:ln>
            <a:noFill/>
          </a:ln>
        </p:spPr>
        <p:txBody>
          <a:bodyPr anchorCtr="0" anchor="t" bIns="45700" lIns="91425" spcFirstLastPara="1" rIns="91425" wrap="square" tIns="45700">
            <a:spAutoFit/>
          </a:bodyPr>
          <a:lstStyle/>
          <a:p>
            <a:pPr indent="-317500" lvl="0" marL="457200" rtl="0" algn="l">
              <a:spcBef>
                <a:spcPts val="0"/>
              </a:spcBef>
              <a:spcAft>
                <a:spcPts val="0"/>
              </a:spcAft>
              <a:buSzPts val="1400"/>
              <a:buFont typeface="Calibri"/>
              <a:buChar char="•"/>
            </a:pPr>
            <a:r>
              <a:rPr b="1" lang="en">
                <a:latin typeface="Calibri"/>
                <a:ea typeface="Calibri"/>
                <a:cs typeface="Calibri"/>
                <a:sym typeface="Calibri"/>
              </a:rPr>
              <a:t>Analyzed historical IPL data using SQL and visualization.</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RCB showed strong batting and home-ground advantage.</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Toss and venue conditions influenced outcomes</a:t>
            </a:r>
            <a:r>
              <a:rPr b="1" lang="en">
                <a:latin typeface="Calibri"/>
                <a:ea typeface="Calibri"/>
                <a:cs typeface="Calibri"/>
                <a:sym typeface="Calibri"/>
              </a:rPr>
              <a:t>.</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Some players consistently delivered match-winning, venue-specific success</a:t>
            </a:r>
            <a:endParaRPr b="1">
              <a:latin typeface="Calibri"/>
              <a:ea typeface="Calibri"/>
              <a:cs typeface="Calibri"/>
              <a:sym typeface="Calibri"/>
            </a:endParaRPr>
          </a:p>
          <a:p>
            <a:pPr indent="0" lvl="0" marL="457200" rtl="0" algn="l">
              <a:spcBef>
                <a:spcPts val="0"/>
              </a:spcBef>
              <a:spcAft>
                <a:spcPts val="0"/>
              </a:spcAft>
              <a:buNone/>
            </a:pPr>
            <a:r>
              <a:t/>
            </a:r>
            <a:endParaRPr b="1">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a:latin typeface="Calibri"/>
                <a:ea typeface="Calibri"/>
                <a:cs typeface="Calibri"/>
                <a:sym typeface="Calibri"/>
              </a:rPr>
              <a:t>Insights can guide player selection, auctions, and strategy</a:t>
            </a:r>
            <a:endParaRPr b="1">
              <a:latin typeface="Calibri"/>
              <a:ea typeface="Calibri"/>
              <a:cs typeface="Calibri"/>
              <a:sym typeface="Calibri"/>
            </a:endParaRPr>
          </a:p>
          <a:p>
            <a:pPr indent="0" lvl="0" marL="457200" marR="0" rtl="0" algn="l">
              <a:spcBef>
                <a:spcPts val="0"/>
              </a:spcBef>
              <a:spcAft>
                <a:spcPts val="0"/>
              </a:spcAft>
              <a:buNone/>
            </a:pPr>
            <a:r>
              <a:t/>
            </a:r>
            <a:endParaRPr b="1">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9"/>
          <p:cNvPicPr preferRelativeResize="0"/>
          <p:nvPr/>
        </p:nvPicPr>
        <p:blipFill rotWithShape="1">
          <a:blip r:embed="rId3">
            <a:alphaModFix/>
          </a:blip>
          <a:srcRect b="0" l="0" r="0" t="0"/>
          <a:stretch/>
        </p:blipFill>
        <p:spPr>
          <a:xfrm>
            <a:off x="0" y="0"/>
            <a:ext cx="9144000"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